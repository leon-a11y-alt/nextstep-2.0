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NextStep is our C270 group project — Next.js frontend, Express API, PostgreSQL on Supabase. My contribution in this phase was the CI/CD pipeline. Two pipelines, seven jobs, running on GitHub Actions.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problem, not the tool. Five contributors on five feature branches. Verification was manual and inconsistent; the API tests were being skipped because they need a seeded database; deployment was improvised each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sentence: CI answers 'is this correct', CD answers 'how does it reach users'. And CD's first job re-runs the whole CI workflow — so there is one definition of correct and nothing untested can be published.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matters: cheapest checks first so failures come back in ~15 seconds. Stages 2 and 3 are independent so they run in parallel; stage 4 uses 'needs' to wait for both. Mention concurrency cancellation and caching if asked about cost.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The tests import the real controllers, which query Postgres — so CI starts a throwaway postgres:16 container, waits on pg_isready, runs db:init to build the schema and seed data, then the tests. Fresh database every run, and the team's Supabase data is never touched. It needed one code change: SSL was hard-coded on for Supabase, so I made it a DATABASE_SSL toggle — unset keeps Supabase working, 'disable' is used in CI.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different kinds of broken, three different guards. The smoke test catches 'tests pass but the app doesn't start'. A production next build catches what next dev tolerates. And the Docker build catches a broken Dockerfile, which no unit test can ever see.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 only runs on a push to main, i.e. a merged PR. Job 1 is the CI gate. Job 2 publishes to GHCR. Job 3 deploys behind a protected environment. On security: GITHUB_TOKEN scoped to that run, no stored PAT, and DB credentials stay in a .env on the server — the pipeline actively fails if a .env is committed.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Tagging with the commit SHA is what makes rollback trivial — every commit on main has a permanently runnable image. Also worth mentioning: NEXT_PUBLIC_ variables compile into the bundle, so the API URL had to be a build-arg, not a runtime env var. That is a genuine gotcha I hit.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this question, so answer it first. We have CI and continuous delivery. Continuous deployment is intentionally off behind an approval gate, because the frontend has no automated tests yet. Removing the gate is the only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concrete and short — it is the 'so what'. The strongest two lines are 'tests were being skipped, now they can't be' and 'rollback is now a redeploy of an earlier SHA'.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the deploy job is written but has no server yet, so it skips with an explanation instead of failing. Jobs 1 and 2 are fully live. Four secrets turn deployment on with no workflow edit. Not hiding the gap earns more credit than overclaiming.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roadmap item closes a specific gap. Branch protection is free and would be first. ESLint is absent on purpose — I would rather have no lint stage than one that passes vacuously.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demo. The most persuasive moment is deliberately breaking a test and watching the pull request go red and block the merge.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sp>
        <p:nvSpPr>
          <p:cNvPr id="2" name="Oval 1"/>
          <p:cNvSpPr/>
          <p:nvPr/>
        </p:nvSpPr>
        <p:spPr>
          <a:xfrm>
            <a:off x="640080" y="960120"/>
            <a:ext cx="566928" cy="566928"/>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21295C"/>
                </a:solidFill>
                <a:latin typeface="Calibri"/>
              </a:rPr>
              <a:t>✓</a:t>
            </a:r>
          </a:p>
        </p:txBody>
      </p:sp>
      <p:sp>
        <p:nvSpPr>
          <p:cNvPr id="3" name="TextBox 2"/>
          <p:cNvSpPr txBox="1"/>
          <p:nvPr/>
        </p:nvSpPr>
        <p:spPr>
          <a:xfrm>
            <a:off x="1417319" y="1024128"/>
            <a:ext cx="7315200" cy="365760"/>
          </a:xfrm>
          <a:prstGeom prst="rect">
            <a:avLst/>
          </a:prstGeom>
          <a:noFill/>
        </p:spPr>
        <p:txBody>
          <a:bodyPr wrap="square" lIns="0" rIns="0" tIns="0" bIns="0">
            <a:spAutoFit/>
          </a:bodyPr>
          <a:lstStyle/>
          <a:p>
            <a:pPr algn="l">
              <a:spcBef>
                <a:spcPts val="0"/>
              </a:spcBef>
              <a:spcAft>
                <a:spcPts val="0"/>
              </a:spcAft>
            </a:pPr>
            <a:r>
              <a:rPr sz="1200" b="1" i="0">
                <a:solidFill>
                  <a:srgbClr val="02C39A"/>
                </a:solidFill>
                <a:latin typeface="Calibri"/>
              </a:rPr>
              <a:t>C270 DEVOPS ESSENTIALS  ·  PROGRESS UPDATE</a:t>
            </a:r>
          </a:p>
        </p:txBody>
      </p:sp>
      <p:sp>
        <p:nvSpPr>
          <p:cNvPr id="4" name="TextBox 3"/>
          <p:cNvSpPr txBox="1"/>
          <p:nvPr/>
        </p:nvSpPr>
        <p:spPr>
          <a:xfrm>
            <a:off x="640080" y="1874519"/>
            <a:ext cx="9509760" cy="1828800"/>
          </a:xfrm>
          <a:prstGeom prst="rect">
            <a:avLst/>
          </a:prstGeom>
          <a:noFill/>
        </p:spPr>
        <p:txBody>
          <a:bodyPr wrap="square" lIns="0" rIns="0" tIns="0" bIns="0">
            <a:spAutoFit/>
          </a:bodyPr>
          <a:lstStyle/>
          <a:p>
            <a:pPr algn="l">
              <a:spcBef>
                <a:spcPts val="0"/>
              </a:spcBef>
              <a:spcAft>
                <a:spcPts val="400"/>
              </a:spcAft>
            </a:pPr>
            <a:r>
              <a:rPr sz="5400" b="1" i="0">
                <a:solidFill>
                  <a:srgbClr val="FFFFFF"/>
                </a:solidFill>
                <a:latin typeface="Cambria"/>
              </a:rPr>
              <a:t>CI/CD Pipeline</a:t>
            </a:r>
          </a:p>
          <a:p>
            <a:pPr algn="l">
              <a:spcBef>
                <a:spcPts val="0"/>
              </a:spcBef>
              <a:spcAft>
                <a:spcPts val="0"/>
              </a:spcAft>
            </a:pPr>
            <a:r>
              <a:rPr sz="2600" b="0" i="0">
                <a:solidFill>
                  <a:srgbClr val="9FD9E8"/>
                </a:solidFill>
                <a:latin typeface="Cambria"/>
              </a:rPr>
              <a:t>for the NextStep web application</a:t>
            </a:r>
          </a:p>
        </p:txBody>
      </p:sp>
      <p:sp>
        <p:nvSpPr>
          <p:cNvPr id="5" name="TextBox 4"/>
          <p:cNvSpPr txBox="1"/>
          <p:nvPr/>
        </p:nvSpPr>
        <p:spPr>
          <a:xfrm>
            <a:off x="640080" y="3977639"/>
            <a:ext cx="8778240" cy="822960"/>
          </a:xfrm>
          <a:prstGeom prst="rect">
            <a:avLst/>
          </a:prstGeom>
          <a:noFill/>
        </p:spPr>
        <p:txBody>
          <a:bodyPr wrap="square" lIns="0" rIns="0" tIns="0" bIns="0">
            <a:spAutoFit/>
          </a:bodyPr>
          <a:lstStyle/>
          <a:p>
            <a:pPr algn="l">
              <a:lnSpc>
                <a:spcPct val="120000"/>
              </a:lnSpc>
              <a:spcBef>
                <a:spcPts val="0"/>
              </a:spcBef>
              <a:spcAft>
                <a:spcPts val="0"/>
              </a:spcAft>
            </a:pPr>
            <a:r>
              <a:rPr sz="1550" b="0" i="0">
                <a:solidFill>
                  <a:srgbClr val="C5D5E0"/>
                </a:solidFill>
                <a:latin typeface="Calibri"/>
              </a:rPr>
              <a:t>Automated testing, containerised packaging and gated release — built with GitHub Actions.</a:t>
            </a:r>
          </a:p>
        </p:txBody>
      </p:sp>
      <p:sp>
        <p:nvSpPr>
          <p:cNvPr id="6" name="Rounded Rectangle 5"/>
          <p:cNvSpPr/>
          <p:nvPr/>
        </p:nvSpPr>
        <p:spPr>
          <a:xfrm>
            <a:off x="640080" y="5029200"/>
            <a:ext cx="2468880" cy="96012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0"/>
              </a:spcAft>
            </a:pPr>
            <a:r>
              <a:rPr sz="2600" b="1" i="0">
                <a:solidFill>
                  <a:srgbClr val="02C39A"/>
                </a:solidFill>
                <a:latin typeface="Cambria"/>
              </a:rPr>
              <a:t>2</a:t>
            </a:r>
          </a:p>
          <a:p>
            <a:pPr algn="l">
              <a:spcBef>
                <a:spcPts val="0"/>
              </a:spcBef>
              <a:spcAft>
                <a:spcPts val="0"/>
              </a:spcAft>
            </a:pPr>
            <a:r>
              <a:rPr sz="1200" b="0" i="0">
                <a:solidFill>
                  <a:srgbClr val="C5D5E0"/>
                </a:solidFill>
                <a:latin typeface="Calibri"/>
              </a:rPr>
              <a:t>pipelines</a:t>
            </a:r>
          </a:p>
        </p:txBody>
      </p:sp>
      <p:sp>
        <p:nvSpPr>
          <p:cNvPr id="7" name="Rounded Rectangle 6"/>
          <p:cNvSpPr/>
          <p:nvPr/>
        </p:nvSpPr>
        <p:spPr>
          <a:xfrm>
            <a:off x="3291839" y="5029200"/>
            <a:ext cx="2468880" cy="96012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0"/>
              </a:spcAft>
            </a:pPr>
            <a:r>
              <a:rPr sz="2600" b="1" i="0">
                <a:solidFill>
                  <a:srgbClr val="02C39A"/>
                </a:solidFill>
                <a:latin typeface="Cambria"/>
              </a:rPr>
              <a:t>7</a:t>
            </a:r>
          </a:p>
          <a:p>
            <a:pPr algn="l">
              <a:spcBef>
                <a:spcPts val="0"/>
              </a:spcBef>
              <a:spcAft>
                <a:spcPts val="0"/>
              </a:spcAft>
            </a:pPr>
            <a:r>
              <a:rPr sz="1200" b="0" i="0">
                <a:solidFill>
                  <a:srgbClr val="C5D5E0"/>
                </a:solidFill>
                <a:latin typeface="Calibri"/>
              </a:rPr>
              <a:t>automated jobs</a:t>
            </a:r>
          </a:p>
        </p:txBody>
      </p:sp>
      <p:sp>
        <p:nvSpPr>
          <p:cNvPr id="8" name="Rounded Rectangle 7"/>
          <p:cNvSpPr/>
          <p:nvPr/>
        </p:nvSpPr>
        <p:spPr>
          <a:xfrm>
            <a:off x="5943600" y="5029200"/>
            <a:ext cx="2468880" cy="96012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0"/>
              </a:spcAft>
            </a:pPr>
            <a:r>
              <a:rPr sz="2600" b="1" i="0">
                <a:solidFill>
                  <a:srgbClr val="02C39A"/>
                </a:solidFill>
                <a:latin typeface="Cambria"/>
              </a:rPr>
              <a:t>17</a:t>
            </a:r>
          </a:p>
          <a:p>
            <a:pPr algn="l">
              <a:spcBef>
                <a:spcPts val="0"/>
              </a:spcBef>
              <a:spcAft>
                <a:spcPts val="0"/>
              </a:spcAft>
            </a:pPr>
            <a:r>
              <a:rPr sz="1200" b="0" i="0">
                <a:solidFill>
                  <a:srgbClr val="C5D5E0"/>
                </a:solidFill>
                <a:latin typeface="Calibri"/>
              </a:rPr>
              <a:t>tests per run</a:t>
            </a:r>
          </a:p>
        </p:txBody>
      </p:sp>
      <p:sp>
        <p:nvSpPr>
          <p:cNvPr id="9" name="Rounded Rectangle 8"/>
          <p:cNvSpPr/>
          <p:nvPr/>
        </p:nvSpPr>
        <p:spPr>
          <a:xfrm>
            <a:off x="8595360" y="5029200"/>
            <a:ext cx="2468880" cy="96012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0"/>
              </a:spcAft>
            </a:pPr>
            <a:r>
              <a:rPr sz="2600" b="1" i="0">
                <a:solidFill>
                  <a:srgbClr val="02C39A"/>
                </a:solidFill>
                <a:latin typeface="Cambria"/>
              </a:rPr>
              <a:t>2</a:t>
            </a:r>
          </a:p>
          <a:p>
            <a:pPr algn="l">
              <a:spcBef>
                <a:spcPts val="0"/>
              </a:spcBef>
              <a:spcAft>
                <a:spcPts val="0"/>
              </a:spcAft>
            </a:pPr>
            <a:r>
              <a:rPr sz="1200" b="0" i="0">
                <a:solidFill>
                  <a:srgbClr val="C5D5E0"/>
                </a:solidFill>
                <a:latin typeface="Calibri"/>
              </a:rPr>
              <a:t>Docker images</a:t>
            </a:r>
          </a:p>
        </p:txBody>
      </p:sp>
      <p:sp>
        <p:nvSpPr>
          <p:cNvPr id="10" name="TextBox 9"/>
          <p:cNvSpPr txBox="1"/>
          <p:nvPr/>
        </p:nvSpPr>
        <p:spPr>
          <a:xfrm>
            <a:off x="640080" y="6382512"/>
            <a:ext cx="10911535" cy="256032"/>
          </a:xfrm>
          <a:prstGeom prst="rect">
            <a:avLst/>
          </a:prstGeom>
          <a:noFill/>
        </p:spPr>
        <p:txBody>
          <a:bodyPr wrap="square" lIns="0" rIns="0" tIns="0" bIns="0">
            <a:spAutoFit/>
          </a:bodyPr>
          <a:lstStyle/>
          <a:p>
            <a:pPr algn="l">
              <a:spcBef>
                <a:spcPts val="0"/>
              </a:spcBef>
              <a:spcAft>
                <a:spcPts val="0"/>
              </a:spcAft>
            </a:pPr>
            <a:r>
              <a:rPr sz="1050" b="0" i="0">
                <a:solidFill>
                  <a:srgbClr val="8CA3B8"/>
                </a:solidFill>
                <a:latin typeface="Calibri"/>
              </a:rPr>
              <a:t>GitHub Actions  ·  GitHub Container Registry  ·  Docker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5486400" cy="219456"/>
          </a:xfrm>
          <a:prstGeom prst="rect">
            <a:avLst/>
          </a:prstGeom>
          <a:noFill/>
        </p:spPr>
        <p:txBody>
          <a:bodyPr wrap="square" lIns="0" rIns="0" tIns="0" bIns="0">
            <a:spAutoFit/>
          </a:bodyPr>
          <a:lstStyle/>
          <a:p>
            <a:pPr algn="l">
              <a:spcBef>
                <a:spcPts val="0"/>
              </a:spcBef>
              <a:spcAft>
                <a:spcPts val="0"/>
              </a:spcAft>
            </a:pPr>
            <a:r>
              <a:rPr sz="1100" b="1" i="0" spc="160">
                <a:solidFill>
                  <a:srgbClr val="1C7293"/>
                </a:solidFill>
                <a:latin typeface="Calibri"/>
              </a:rPr>
              <a:t>WHY WE NEEDED A PIPELINE</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Bef>
                <a:spcPts val="0"/>
              </a:spcBef>
              <a:spcAft>
                <a:spcPts val="0"/>
              </a:spcAft>
            </a:pPr>
            <a:r>
              <a:rPr sz="3200" b="1" i="0">
                <a:solidFill>
                  <a:srgbClr val="065A82"/>
                </a:solidFill>
                <a:latin typeface="Cambria"/>
              </a:rPr>
              <a:t>Five people, five branches, one fragile answer</a:t>
            </a:r>
          </a:p>
        </p:txBody>
      </p:sp>
      <p:sp>
        <p:nvSpPr>
          <p:cNvPr id="4" name="TextBox 3"/>
          <p:cNvSpPr txBox="1"/>
          <p:nvPr/>
        </p:nvSpPr>
        <p:spPr>
          <a:xfrm>
            <a:off x="640080" y="1051560"/>
            <a:ext cx="10545775" cy="365760"/>
          </a:xfrm>
          <a:prstGeom prst="rect">
            <a:avLst/>
          </a:prstGeom>
          <a:noFill/>
        </p:spPr>
        <p:txBody>
          <a:bodyPr wrap="square" lIns="0" rIns="0" tIns="0" bIns="0">
            <a:spAutoFit/>
          </a:bodyPr>
          <a:lstStyle/>
          <a:p>
            <a:pPr algn="l">
              <a:spcBef>
                <a:spcPts val="0"/>
              </a:spcBef>
              <a:spcAft>
                <a:spcPts val="0"/>
              </a:spcAft>
            </a:pPr>
            <a:r>
              <a:rPr sz="1450" b="0" i="0">
                <a:solidFill>
                  <a:srgbClr val="5C6B7A"/>
                </a:solidFill>
                <a:latin typeface="Calibri"/>
              </a:rPr>
              <a:t>Before automation, “does it still work?” depended on whose laptop ran it.</a:t>
            </a:r>
          </a:p>
        </p:txBody>
      </p:sp>
      <p:sp>
        <p:nvSpPr>
          <p:cNvPr id="5" name="Rounded Rectangle 4"/>
          <p:cNvSpPr/>
          <p:nvPr/>
        </p:nvSpPr>
        <p:spPr>
          <a:xfrm>
            <a:off x="640080" y="2148840"/>
            <a:ext cx="3520440" cy="22860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lnSpc>
                <a:spcPct val="105000"/>
              </a:lnSpc>
              <a:spcBef>
                <a:spcPts val="0"/>
              </a:spcBef>
              <a:spcAft>
                <a:spcPts val="900"/>
              </a:spcAft>
            </a:pPr>
            <a:r>
              <a:rPr sz="1700" b="1" i="0">
                <a:solidFill>
                  <a:srgbClr val="065A82"/>
                </a:solidFill>
                <a:latin typeface="Cambria"/>
              </a:rPr>
              <a:t>Works on
my machine</a:t>
            </a:r>
          </a:p>
          <a:p>
            <a:pPr algn="l">
              <a:lnSpc>
                <a:spcPct val="115000"/>
              </a:lnSpc>
              <a:spcBef>
                <a:spcPts val="0"/>
              </a:spcBef>
              <a:spcAft>
                <a:spcPts val="0"/>
              </a:spcAft>
            </a:pPr>
            <a:r>
              <a:rPr sz="1300" b="0" i="0">
                <a:solidFill>
                  <a:srgbClr val="1B2233"/>
                </a:solidFill>
                <a:latin typeface="Calibri"/>
              </a:rPr>
              <a:t>Verification meant one person running the app locally. Different Node versions, different results — and no record of it.</a:t>
            </a:r>
          </a:p>
        </p:txBody>
      </p:sp>
      <p:sp>
        <p:nvSpPr>
          <p:cNvPr id="6" name="Oval 5"/>
          <p:cNvSpPr/>
          <p:nvPr/>
        </p:nvSpPr>
        <p:spPr>
          <a:xfrm>
            <a:off x="3593591" y="1929384"/>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Rounded Rectangle 6"/>
          <p:cNvSpPr/>
          <p:nvPr/>
        </p:nvSpPr>
        <p:spPr>
          <a:xfrm>
            <a:off x="4361688" y="2148840"/>
            <a:ext cx="3520440" cy="22860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lnSpc>
                <a:spcPct val="105000"/>
              </a:lnSpc>
              <a:spcBef>
                <a:spcPts val="0"/>
              </a:spcBef>
              <a:spcAft>
                <a:spcPts val="900"/>
              </a:spcAft>
            </a:pPr>
            <a:r>
              <a:rPr sz="1700" b="1" i="0">
                <a:solidFill>
                  <a:srgbClr val="065A82"/>
                </a:solidFill>
                <a:latin typeface="Cambria"/>
              </a:rPr>
              <a:t>Tests were
being skipped</a:t>
            </a:r>
          </a:p>
          <a:p>
            <a:pPr algn="l">
              <a:lnSpc>
                <a:spcPct val="115000"/>
              </a:lnSpc>
              <a:spcBef>
                <a:spcPts val="0"/>
              </a:spcBef>
              <a:spcAft>
                <a:spcPts val="0"/>
              </a:spcAft>
            </a:pPr>
            <a:r>
              <a:rPr sz="1300" b="0" i="0">
                <a:solidFill>
                  <a:srgbClr val="1B2233"/>
                </a:solidFill>
                <a:latin typeface="Calibri"/>
              </a:rPr>
              <a:t>The API tests need a seeded PostgreSQL database. Without an easy way to get one, people simply didn't run them.</a:t>
            </a:r>
          </a:p>
        </p:txBody>
      </p:sp>
      <p:sp>
        <p:nvSpPr>
          <p:cNvPr id="8" name="Oval 7"/>
          <p:cNvSpPr/>
          <p:nvPr/>
        </p:nvSpPr>
        <p:spPr>
          <a:xfrm>
            <a:off x="7315200" y="1929384"/>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9" name="Rounded Rectangle 8"/>
          <p:cNvSpPr/>
          <p:nvPr/>
        </p:nvSpPr>
        <p:spPr>
          <a:xfrm>
            <a:off x="8083296" y="2148840"/>
            <a:ext cx="3520440" cy="22860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lnSpc>
                <a:spcPct val="105000"/>
              </a:lnSpc>
              <a:spcBef>
                <a:spcPts val="0"/>
              </a:spcBef>
              <a:spcAft>
                <a:spcPts val="900"/>
              </a:spcAft>
            </a:pPr>
            <a:r>
              <a:rPr sz="1700" b="1" i="0">
                <a:solidFill>
                  <a:srgbClr val="065A82"/>
                </a:solidFill>
                <a:latin typeface="Cambria"/>
              </a:rPr>
              <a:t>Deployment was
improvised</a:t>
            </a:r>
          </a:p>
          <a:p>
            <a:pPr algn="l">
              <a:lnSpc>
                <a:spcPct val="115000"/>
              </a:lnSpc>
              <a:spcBef>
                <a:spcPts val="0"/>
              </a:spcBef>
              <a:spcAft>
                <a:spcPts val="0"/>
              </a:spcAft>
            </a:pPr>
            <a:r>
              <a:rPr sz="1300" b="0" i="0">
                <a:solidFill>
                  <a:srgbClr val="1B2233"/>
                </a:solidFill>
                <a:latin typeface="Calibri"/>
              </a:rPr>
              <a:t>A manual sequence of commands, slightly different every time. No versioning, so no reliable way to roll back.</a:t>
            </a:r>
          </a:p>
        </p:txBody>
      </p:sp>
      <p:sp>
        <p:nvSpPr>
          <p:cNvPr id="10" name="Oval 9"/>
          <p:cNvSpPr/>
          <p:nvPr/>
        </p:nvSpPr>
        <p:spPr>
          <a:xfrm>
            <a:off x="11036808" y="1929384"/>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1" name="Rounded Rectangle 10"/>
          <p:cNvSpPr/>
          <p:nvPr/>
        </p:nvSpPr>
        <p:spPr>
          <a:xfrm>
            <a:off x="640080" y="4864608"/>
            <a:ext cx="10911535" cy="1051560"/>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500"/>
              </a:spcAft>
            </a:pPr>
            <a:r>
              <a:rPr sz="1700" b="1" i="0">
                <a:solidFill>
                  <a:srgbClr val="FFFFFF"/>
                </a:solidFill>
                <a:latin typeface="Cambria"/>
              </a:rPr>
              <a:t>The fix: make verification automatic, identical for everyone, and repeatable.</a:t>
            </a:r>
          </a:p>
          <a:p>
            <a:pPr algn="l">
              <a:spcBef>
                <a:spcPts val="0"/>
              </a:spcBef>
              <a:spcAft>
                <a:spcPts val="0"/>
              </a:spcAft>
            </a:pPr>
            <a:r>
              <a:rPr sz="1300" b="0" i="0">
                <a:solidFill>
                  <a:srgbClr val="A8E8D8"/>
                </a:solidFill>
                <a:latin typeface="Calibri"/>
              </a:rPr>
              <a:t>A pipeline is not extra work — it is the same work, done by a machine, on every single commit.</a:t>
            </a:r>
          </a:p>
        </p:txBody>
      </p:sp>
      <p:sp>
        <p:nvSpPr>
          <p:cNvPr id="12" name="TextBox 11"/>
          <p:cNvSpPr txBox="1"/>
          <p:nvPr/>
        </p:nvSpPr>
        <p:spPr>
          <a:xfrm>
            <a:off x="640080" y="6382512"/>
            <a:ext cx="10911535" cy="256032"/>
          </a:xfrm>
          <a:prstGeom prst="rect">
            <a:avLst/>
          </a:prstGeom>
          <a:noFill/>
        </p:spPr>
        <p:txBody>
          <a:bodyPr wrap="square" lIns="0" rIns="0" tIns="0" bIns="0">
            <a:spAutoFit/>
          </a:bodyPr>
          <a:lstStyle/>
          <a:p>
            <a:pPr algn="l">
              <a:spcBef>
                <a:spcPts val="0"/>
              </a:spcBef>
              <a:spcAft>
                <a:spcPts val="0"/>
              </a:spcAft>
            </a:pPr>
            <a:r>
              <a:rPr sz="1050" b="0" i="0">
                <a:solidFill>
                  <a:srgbClr val="5C6B7A"/>
                </a:solidFill>
                <a:latin typeface="Calibri"/>
              </a:rPr>
              <a:t>docs/CICD.md §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5486400" cy="219456"/>
          </a:xfrm>
          <a:prstGeom prst="rect">
            <a:avLst/>
          </a:prstGeom>
          <a:noFill/>
        </p:spPr>
        <p:txBody>
          <a:bodyPr wrap="square" lIns="0" rIns="0" tIns="0" bIns="0">
            <a:spAutoFit/>
          </a:bodyPr>
          <a:lstStyle/>
          <a:p>
            <a:pPr algn="l">
              <a:spcBef>
                <a:spcPts val="0"/>
              </a:spcBef>
              <a:spcAft>
                <a:spcPts val="0"/>
              </a:spcAft>
            </a:pPr>
            <a:r>
              <a:rPr sz="1100" b="1" i="0" spc="160">
                <a:solidFill>
                  <a:srgbClr val="1C7293"/>
                </a:solidFill>
                <a:latin typeface="Calibri"/>
              </a:rPr>
              <a:t>WHAT I BUILT</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Bef>
                <a:spcPts val="0"/>
              </a:spcBef>
              <a:spcAft>
                <a:spcPts val="0"/>
              </a:spcAft>
            </a:pPr>
            <a:r>
              <a:rPr sz="3200" b="1" i="0">
                <a:solidFill>
                  <a:srgbClr val="065A82"/>
                </a:solidFill>
                <a:latin typeface="Cambria"/>
              </a:rPr>
              <a:t>Two pipelines with two different questions</a:t>
            </a:r>
          </a:p>
        </p:txBody>
      </p:sp>
      <p:sp>
        <p:nvSpPr>
          <p:cNvPr id="4" name="TextBox 3"/>
          <p:cNvSpPr txBox="1"/>
          <p:nvPr/>
        </p:nvSpPr>
        <p:spPr>
          <a:xfrm>
            <a:off x="640080" y="1051560"/>
            <a:ext cx="10545775" cy="365760"/>
          </a:xfrm>
          <a:prstGeom prst="rect">
            <a:avLst/>
          </a:prstGeom>
          <a:noFill/>
        </p:spPr>
        <p:txBody>
          <a:bodyPr wrap="square" lIns="0" rIns="0" tIns="0" bIns="0">
            <a:spAutoFit/>
          </a:bodyPr>
          <a:lstStyle/>
          <a:p>
            <a:pPr algn="l">
              <a:spcBef>
                <a:spcPts val="0"/>
              </a:spcBef>
              <a:spcAft>
                <a:spcPts val="0"/>
              </a:spcAft>
            </a:pPr>
            <a:r>
              <a:rPr sz="1450" b="0" i="0">
                <a:solidFill>
                  <a:srgbClr val="5C6B7A"/>
                </a:solidFill>
                <a:latin typeface="Calibri"/>
              </a:rPr>
              <a:t>CI asks “is this correct?”  ·  CD asks “how does it reach users?”</a:t>
            </a:r>
          </a:p>
        </p:txBody>
      </p:sp>
      <p:sp>
        <p:nvSpPr>
          <p:cNvPr id="5" name="Rounded Rectangle 4"/>
          <p:cNvSpPr/>
          <p:nvPr/>
        </p:nvSpPr>
        <p:spPr>
          <a:xfrm>
            <a:off x="640080" y="2103120"/>
            <a:ext cx="5303520" cy="288036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400"/>
              </a:spcAft>
            </a:pPr>
            <a:r>
              <a:rPr sz="1800" b="1" i="0">
                <a:solidFill>
                  <a:srgbClr val="065A82"/>
                </a:solidFill>
                <a:latin typeface="Cambria"/>
              </a:rPr>
              <a:t>CI  —  Continuous Integration</a:t>
            </a:r>
          </a:p>
          <a:p>
            <a:pPr algn="l">
              <a:spcBef>
                <a:spcPts val="0"/>
              </a:spcBef>
              <a:spcAft>
                <a:spcPts val="900"/>
              </a:spcAft>
            </a:pPr>
            <a:r>
              <a:rPr sz="1200" b="0" i="0">
                <a:solidFill>
                  <a:srgbClr val="1C7293"/>
                </a:solidFill>
                <a:latin typeface="Consolas"/>
              </a:rPr>
              <a:t>.github/workflows/ci.yml</a:t>
            </a:r>
          </a:p>
          <a:p>
            <a:pPr algn="l" marL="200025" indent="-200025">
              <a:lnSpc>
                <a:spcPct val="110000"/>
              </a:lnSpc>
              <a:spcBef>
                <a:spcPts val="0"/>
              </a:spcBef>
              <a:spcAft>
                <a:spcPts val="600"/>
              </a:spcAft>
              <a:buChar char="•"/>
            </a:pPr>
            <a:r>
              <a:rPr sz="1300" b="0" i="0">
                <a:solidFill>
                  <a:srgbClr val="1B2233"/>
                </a:solidFill>
                <a:latin typeface="Calibri"/>
              </a:rPr>
              <a:t>Triggers: every push to dev / feature/**, and every pull request</a:t>
            </a:r>
          </a:p>
          <a:p>
            <a:pPr algn="l" marL="200025" indent="-200025">
              <a:lnSpc>
                <a:spcPct val="110000"/>
              </a:lnSpc>
              <a:spcBef>
                <a:spcPts val="0"/>
              </a:spcBef>
              <a:spcAft>
                <a:spcPts val="600"/>
              </a:spcAft>
              <a:buChar char="•"/>
            </a:pPr>
            <a:r>
              <a:rPr sz="1300" b="0" i="0">
                <a:solidFill>
                  <a:srgbClr val="1B2233"/>
                </a:solidFill>
                <a:latin typeface="Calibri"/>
              </a:rPr>
              <a:t>4 stages: quality → backend tests ‖ frontend build → Docker images</a:t>
            </a:r>
          </a:p>
          <a:p>
            <a:pPr algn="l" marL="200025" indent="-200025">
              <a:lnSpc>
                <a:spcPct val="110000"/>
              </a:lnSpc>
              <a:spcBef>
                <a:spcPts val="0"/>
              </a:spcBef>
              <a:spcAft>
                <a:spcPts val="600"/>
              </a:spcAft>
              <a:buChar char="•"/>
            </a:pPr>
            <a:r>
              <a:rPr sz="1300" b="0" i="0">
                <a:solidFill>
                  <a:srgbClr val="1B2233"/>
                </a:solidFill>
                <a:latin typeface="Calibri"/>
              </a:rPr>
              <a:t>Runs a throwaway PostgreSQL 16 container so the real tests can run</a:t>
            </a:r>
          </a:p>
          <a:p>
            <a:pPr algn="l" marL="200025" indent="-200025">
              <a:lnSpc>
                <a:spcPct val="110000"/>
              </a:lnSpc>
              <a:spcBef>
                <a:spcPts val="0"/>
              </a:spcBef>
              <a:spcAft>
                <a:spcPts val="600"/>
              </a:spcAft>
              <a:buChar char="•"/>
            </a:pPr>
            <a:r>
              <a:rPr sz="1300" b="0" i="0">
                <a:solidFill>
                  <a:srgbClr val="1B2233"/>
                </a:solidFill>
                <a:latin typeface="Calibri"/>
              </a:rPr>
              <a:t>Result: a ✓ or ✗ on the commit and on the pull request</a:t>
            </a:r>
          </a:p>
        </p:txBody>
      </p:sp>
      <p:sp>
        <p:nvSpPr>
          <p:cNvPr id="6" name="Rounded Rectangle 5"/>
          <p:cNvSpPr/>
          <p:nvPr/>
        </p:nvSpPr>
        <p:spPr>
          <a:xfrm>
            <a:off x="6245352" y="2103120"/>
            <a:ext cx="5303520" cy="2880360"/>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400"/>
              </a:spcAft>
            </a:pPr>
            <a:r>
              <a:rPr sz="1800" b="1" i="0">
                <a:solidFill>
                  <a:srgbClr val="FFFFFF"/>
                </a:solidFill>
                <a:latin typeface="Cambria"/>
              </a:rPr>
              <a:t>CD  —  Continuous Delivery</a:t>
            </a:r>
          </a:p>
          <a:p>
            <a:pPr algn="l">
              <a:spcBef>
                <a:spcPts val="0"/>
              </a:spcBef>
              <a:spcAft>
                <a:spcPts val="900"/>
              </a:spcAft>
            </a:pPr>
            <a:r>
              <a:rPr sz="1200" b="0" i="0">
                <a:solidFill>
                  <a:srgbClr val="02C39A"/>
                </a:solidFill>
                <a:latin typeface="Consolas"/>
              </a:rPr>
              <a:t>.github/workflows/cd.yml</a:t>
            </a:r>
          </a:p>
          <a:p>
            <a:pPr algn="l" marL="200025" indent="-200025">
              <a:lnSpc>
                <a:spcPct val="110000"/>
              </a:lnSpc>
              <a:spcBef>
                <a:spcPts val="0"/>
              </a:spcBef>
              <a:spcAft>
                <a:spcPts val="600"/>
              </a:spcAft>
              <a:buChar char="•"/>
            </a:pPr>
            <a:r>
              <a:rPr sz="1300" b="0" i="0">
                <a:solidFill>
                  <a:srgbClr val="D8E3EC"/>
                </a:solidFill>
                <a:latin typeface="Calibri"/>
              </a:rPr>
              <a:t>Triggers: a push to main — i.e. a pull request being merged</a:t>
            </a:r>
          </a:p>
          <a:p>
            <a:pPr algn="l" marL="200025" indent="-200025">
              <a:lnSpc>
                <a:spcPct val="110000"/>
              </a:lnSpc>
              <a:spcBef>
                <a:spcPts val="0"/>
              </a:spcBef>
              <a:spcAft>
                <a:spcPts val="600"/>
              </a:spcAft>
              <a:buChar char="•"/>
            </a:pPr>
            <a:r>
              <a:rPr sz="1300" b="0" i="0">
                <a:solidFill>
                  <a:srgbClr val="D8E3EC"/>
                </a:solidFill>
                <a:latin typeface="Calibri"/>
              </a:rPr>
              <a:t>3 jobs: CI gate → publish images to GHCR → deploy</a:t>
            </a:r>
          </a:p>
          <a:p>
            <a:pPr algn="l" marL="200025" indent="-200025">
              <a:lnSpc>
                <a:spcPct val="110000"/>
              </a:lnSpc>
              <a:spcBef>
                <a:spcPts val="0"/>
              </a:spcBef>
              <a:spcAft>
                <a:spcPts val="600"/>
              </a:spcAft>
              <a:buChar char="•"/>
            </a:pPr>
            <a:r>
              <a:rPr sz="1300" b="0" i="0">
                <a:solidFill>
                  <a:srgbClr val="D8E3EC"/>
                </a:solidFill>
                <a:latin typeface="Calibri"/>
              </a:rPr>
              <a:t>Every commit on main becomes a versioned, runnable artifact</a:t>
            </a:r>
          </a:p>
          <a:p>
            <a:pPr algn="l" marL="200025" indent="-200025">
              <a:lnSpc>
                <a:spcPct val="110000"/>
              </a:lnSpc>
              <a:spcBef>
                <a:spcPts val="0"/>
              </a:spcBef>
              <a:spcAft>
                <a:spcPts val="600"/>
              </a:spcAft>
              <a:buChar char="•"/>
            </a:pPr>
            <a:r>
              <a:rPr sz="1300" b="0" i="0">
                <a:solidFill>
                  <a:srgbClr val="D8E3EC"/>
                </a:solidFill>
                <a:latin typeface="Calibri"/>
              </a:rPr>
              <a:t>Deployment sits behind a protected environment approval</a:t>
            </a:r>
          </a:p>
        </p:txBody>
      </p:sp>
      <p:sp>
        <p:nvSpPr>
          <p:cNvPr id="7" name="Rounded Rectangle 6"/>
          <p:cNvSpPr/>
          <p:nvPr/>
        </p:nvSpPr>
        <p:spPr>
          <a:xfrm>
            <a:off x="640080" y="5230368"/>
            <a:ext cx="10911535" cy="868680"/>
          </a:xfrm>
          <a:prstGeom prst="roundRect">
            <a:avLst>
              <a:gd name="adj" fmla="val 6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400"/>
              </a:spcAft>
            </a:pPr>
            <a:r>
              <a:rPr sz="1550" b="1" i="0">
                <a:solidFill>
                  <a:srgbClr val="065A82"/>
                </a:solidFill>
                <a:latin typeface="Cambria"/>
              </a:rPr>
              <a:t>The link between them: CD's first job re-runs the whole of CI as a gate.</a:t>
            </a:r>
          </a:p>
          <a:p>
            <a:pPr algn="l">
              <a:spcBef>
                <a:spcPts val="0"/>
              </a:spcBef>
              <a:spcAft>
                <a:spcPts val="0"/>
              </a:spcAft>
            </a:pPr>
            <a:r>
              <a:rPr sz="1250" b="0" i="0">
                <a:solidFill>
                  <a:srgbClr val="1B2233"/>
                </a:solidFill>
                <a:latin typeface="Calibri"/>
              </a:rPr>
              <a:t>One definition of “correct”, reused — so code that fails a test can never be published or deployed.</a:t>
            </a:r>
          </a:p>
        </p:txBody>
      </p:sp>
      <p:sp>
        <p:nvSpPr>
          <p:cNvPr id="8" name="TextBox 7"/>
          <p:cNvSpPr txBox="1"/>
          <p:nvPr/>
        </p:nvSpPr>
        <p:spPr>
          <a:xfrm>
            <a:off x="640080" y="6382512"/>
            <a:ext cx="10911535" cy="256032"/>
          </a:xfrm>
          <a:prstGeom prst="rect">
            <a:avLst/>
          </a:prstGeom>
          <a:noFill/>
        </p:spPr>
        <p:txBody>
          <a:bodyPr wrap="square" lIns="0" rIns="0" tIns="0" bIns="0">
            <a:spAutoFit/>
          </a:bodyPr>
          <a:lstStyle/>
          <a:p>
            <a:pPr algn="l">
              <a:spcBef>
                <a:spcPts val="0"/>
              </a:spcBef>
              <a:spcAft>
                <a:spcPts val="0"/>
              </a:spcAft>
            </a:pPr>
            <a:r>
              <a:rPr sz="1050" b="0" i="0">
                <a:solidFill>
                  <a:srgbClr val="5C6B7A"/>
                </a:solidFill>
                <a:latin typeface="Calibri"/>
              </a:rPr>
              <a:t>docs/CICD.md §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5486400" cy="219456"/>
          </a:xfrm>
          <a:prstGeom prst="rect">
            <a:avLst/>
          </a:prstGeom>
          <a:noFill/>
        </p:spPr>
        <p:txBody>
          <a:bodyPr wrap="square" lIns="0" rIns="0" tIns="0" bIns="0">
            <a:spAutoFit/>
          </a:bodyPr>
          <a:lstStyle/>
          <a:p>
            <a:pPr algn="l">
              <a:spcBef>
                <a:spcPts val="0"/>
              </a:spcBef>
              <a:spcAft>
                <a:spcPts val="0"/>
              </a:spcAft>
            </a:pPr>
            <a:r>
              <a:rPr sz="1100" b="1" i="0" spc="160">
                <a:solidFill>
                  <a:srgbClr val="1C7293"/>
                </a:solidFill>
                <a:latin typeface="Calibri"/>
              </a:rPr>
              <a:t>CI PIPELINE</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Bef>
                <a:spcPts val="0"/>
              </a:spcBef>
              <a:spcAft>
                <a:spcPts val="0"/>
              </a:spcAft>
            </a:pPr>
            <a:r>
              <a:rPr sz="3200" b="1" i="0">
                <a:solidFill>
                  <a:srgbClr val="065A82"/>
                </a:solidFill>
                <a:latin typeface="Cambria"/>
              </a:rPr>
              <a:t>Four stages — and the middle two run in parallel</a:t>
            </a:r>
          </a:p>
        </p:txBody>
      </p:sp>
      <p:sp>
        <p:nvSpPr>
          <p:cNvPr id="4" name="TextBox 3"/>
          <p:cNvSpPr txBox="1"/>
          <p:nvPr/>
        </p:nvSpPr>
        <p:spPr>
          <a:xfrm>
            <a:off x="640080" y="1051560"/>
            <a:ext cx="10545775" cy="365760"/>
          </a:xfrm>
          <a:prstGeom prst="rect">
            <a:avLst/>
          </a:prstGeom>
          <a:noFill/>
        </p:spPr>
        <p:txBody>
          <a:bodyPr wrap="square" lIns="0" rIns="0" tIns="0" bIns="0">
            <a:spAutoFit/>
          </a:bodyPr>
          <a:lstStyle/>
          <a:p>
            <a:pPr algn="l">
              <a:spcBef>
                <a:spcPts val="0"/>
              </a:spcBef>
              <a:spcAft>
                <a:spcPts val="0"/>
              </a:spcAft>
            </a:pPr>
            <a:r>
              <a:rPr sz="1450" b="0" i="0">
                <a:solidFill>
                  <a:srgbClr val="5C6B7A"/>
                </a:solidFill>
                <a:latin typeface="Calibri"/>
              </a:rPr>
              <a:t>Cheapest checks first, so a bad commit fails in about 15 seconds.</a:t>
            </a:r>
          </a:p>
        </p:txBody>
      </p:sp>
      <p:sp>
        <p:nvSpPr>
          <p:cNvPr id="5" name="Rounded Rectangle 4"/>
          <p:cNvSpPr/>
          <p:nvPr/>
        </p:nvSpPr>
        <p:spPr>
          <a:xfrm>
            <a:off x="640080" y="2148840"/>
            <a:ext cx="2468880" cy="13716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500"/>
              </a:spcAft>
            </a:pPr>
            <a:r>
              <a:rPr sz="1500" b="1" i="0">
                <a:solidFill>
                  <a:srgbClr val="065A82"/>
                </a:solidFill>
                <a:latin typeface="Cambria"/>
              </a:rPr>
              <a:t>1  Quality</a:t>
            </a:r>
          </a:p>
          <a:p>
            <a:pPr algn="l">
              <a:lnSpc>
                <a:spcPct val="110000"/>
              </a:lnSpc>
              <a:spcBef>
                <a:spcPts val="0"/>
              </a:spcBef>
              <a:spcAft>
                <a:spcPts val="0"/>
              </a:spcAft>
            </a:pPr>
            <a:r>
              <a:rPr sz="1150" b="0" i="0">
                <a:solidFill>
                  <a:srgbClr val="1B2233"/>
                </a:solidFill>
                <a:latin typeface="Calibri"/>
              </a:rPr>
              <a:t>No committed .env, no node_modules, lockfiles present</a:t>
            </a:r>
          </a:p>
        </p:txBody>
      </p:sp>
      <p:sp>
        <p:nvSpPr>
          <p:cNvPr id="6" name="Right Arrow 5"/>
          <p:cNvSpPr/>
          <p:nvPr/>
        </p:nvSpPr>
        <p:spPr>
          <a:xfrm>
            <a:off x="3218687" y="2697480"/>
            <a:ext cx="365760" cy="27432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94176" y="1874519"/>
            <a:ext cx="3200400" cy="1481328"/>
          </a:xfrm>
          <a:prstGeom prst="roundRect">
            <a:avLst>
              <a:gd name="adj" fmla="val 6000"/>
            </a:avLst>
          </a:prstGeom>
          <a:solidFill>
            <a:srgbClr val="D9EE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500"/>
              </a:spcAft>
            </a:pPr>
            <a:r>
              <a:rPr sz="1500" b="1" i="0">
                <a:solidFill>
                  <a:srgbClr val="0B6B53"/>
                </a:solidFill>
                <a:latin typeface="Cambria"/>
              </a:rPr>
              <a:t>2  Backend tests</a:t>
            </a:r>
          </a:p>
          <a:p>
            <a:pPr algn="l">
              <a:lnSpc>
                <a:spcPct val="110000"/>
              </a:lnSpc>
              <a:spcBef>
                <a:spcPts val="0"/>
              </a:spcBef>
              <a:spcAft>
                <a:spcPts val="0"/>
              </a:spcAft>
            </a:pPr>
            <a:r>
              <a:rPr sz="1150" b="0" i="0">
                <a:solidFill>
                  <a:srgbClr val="1B2233"/>
                </a:solidFill>
                <a:latin typeface="Calibri"/>
              </a:rPr>
              <a:t>PostgreSQL 16 service container  →  db:init  →  17 tests  →  /api/health smoke test</a:t>
            </a:r>
          </a:p>
        </p:txBody>
      </p:sp>
      <p:sp>
        <p:nvSpPr>
          <p:cNvPr id="8" name="Rounded Rectangle 7"/>
          <p:cNvSpPr/>
          <p:nvPr/>
        </p:nvSpPr>
        <p:spPr>
          <a:xfrm>
            <a:off x="3694176" y="3493008"/>
            <a:ext cx="3200400" cy="123444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500"/>
              </a:spcAft>
            </a:pPr>
            <a:r>
              <a:rPr sz="1500" b="1" i="0">
                <a:solidFill>
                  <a:srgbClr val="065A82"/>
                </a:solidFill>
                <a:latin typeface="Cambria"/>
              </a:rPr>
              <a:t>3  Frontend build</a:t>
            </a:r>
          </a:p>
          <a:p>
            <a:pPr algn="l">
              <a:lnSpc>
                <a:spcPct val="110000"/>
              </a:lnSpc>
              <a:spcBef>
                <a:spcPts val="0"/>
              </a:spcBef>
              <a:spcAft>
                <a:spcPts val="0"/>
              </a:spcAft>
            </a:pPr>
            <a:r>
              <a:rPr sz="1150" b="0" i="0">
                <a:solidFill>
                  <a:srgbClr val="1B2233"/>
                </a:solidFill>
                <a:latin typeface="Calibri"/>
              </a:rPr>
              <a:t>Production next build, output uploaded as an artifact</a:t>
            </a:r>
          </a:p>
        </p:txBody>
      </p:sp>
      <p:sp>
        <p:nvSpPr>
          <p:cNvPr id="9" name="TextBox 8"/>
          <p:cNvSpPr txBox="1"/>
          <p:nvPr/>
        </p:nvSpPr>
        <p:spPr>
          <a:xfrm>
            <a:off x="3694176" y="4791456"/>
            <a:ext cx="3200400" cy="274320"/>
          </a:xfrm>
          <a:prstGeom prst="rect">
            <a:avLst/>
          </a:prstGeom>
          <a:noFill/>
        </p:spPr>
        <p:txBody>
          <a:bodyPr wrap="square" lIns="0" rIns="0" tIns="0" bIns="0">
            <a:spAutoFit/>
          </a:bodyPr>
          <a:lstStyle/>
          <a:p>
            <a:pPr algn="ctr">
              <a:spcBef>
                <a:spcPts val="0"/>
              </a:spcBef>
              <a:spcAft>
                <a:spcPts val="0"/>
              </a:spcAft>
            </a:pPr>
            <a:r>
              <a:rPr sz="1100" b="0" i="1">
                <a:solidFill>
                  <a:srgbClr val="5C6B7A"/>
                </a:solidFill>
                <a:latin typeface="Calibri"/>
              </a:rPr>
              <a:t>run at the same time</a:t>
            </a:r>
          </a:p>
        </p:txBody>
      </p:sp>
      <p:sp>
        <p:nvSpPr>
          <p:cNvPr id="10" name="Right Arrow 9"/>
          <p:cNvSpPr/>
          <p:nvPr/>
        </p:nvSpPr>
        <p:spPr>
          <a:xfrm>
            <a:off x="7004304" y="2697480"/>
            <a:ext cx="365760" cy="27432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79792" y="2148840"/>
            <a:ext cx="2468880" cy="13716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500"/>
              </a:spcAft>
            </a:pPr>
            <a:r>
              <a:rPr sz="1500" b="1" i="0">
                <a:solidFill>
                  <a:srgbClr val="065A82"/>
                </a:solidFill>
                <a:latin typeface="Cambria"/>
              </a:rPr>
              <a:t>4  Docker images</a:t>
            </a:r>
          </a:p>
          <a:p>
            <a:pPr algn="l">
              <a:lnSpc>
                <a:spcPct val="110000"/>
              </a:lnSpc>
              <a:spcBef>
                <a:spcPts val="0"/>
              </a:spcBef>
              <a:spcAft>
                <a:spcPts val="0"/>
              </a:spcAft>
            </a:pPr>
            <a:r>
              <a:rPr sz="1150" b="0" i="0">
                <a:solidFill>
                  <a:srgbClr val="1B2233"/>
                </a:solidFill>
                <a:latin typeface="Calibri"/>
              </a:rPr>
              <a:t>Both Dockerfiles must build — starts only if 2 and 3 pass</a:t>
            </a:r>
          </a:p>
        </p:txBody>
      </p:sp>
      <p:sp>
        <p:nvSpPr>
          <p:cNvPr id="12" name="Right Arrow 11"/>
          <p:cNvSpPr/>
          <p:nvPr/>
        </p:nvSpPr>
        <p:spPr>
          <a:xfrm>
            <a:off x="10058400" y="2697480"/>
            <a:ext cx="365760" cy="27432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515600" y="2542032"/>
            <a:ext cx="594360" cy="59436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21295C"/>
                </a:solidFill>
                <a:latin typeface="Calibri"/>
              </a:rPr>
              <a:t>✓</a:t>
            </a:r>
          </a:p>
        </p:txBody>
      </p:sp>
      <p:sp>
        <p:nvSpPr>
          <p:cNvPr id="14" name="Rounded Rectangle 13"/>
          <p:cNvSpPr/>
          <p:nvPr/>
        </p:nvSpPr>
        <p:spPr>
          <a:xfrm>
            <a:off x="640080" y="5193792"/>
            <a:ext cx="10911535" cy="914400"/>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400"/>
              </a:spcAft>
            </a:pPr>
            <a:r>
              <a:rPr sz="1450" b="1" i="0">
                <a:solidFill>
                  <a:srgbClr val="FFFFFF"/>
                </a:solidFill>
                <a:latin typeface="Cambria"/>
              </a:rPr>
              <a:t>Two efficiency details worth pointing at</a:t>
            </a:r>
          </a:p>
          <a:p>
            <a:pPr algn="l">
              <a:lnSpc>
                <a:spcPct val="110000"/>
              </a:lnSpc>
              <a:spcBef>
                <a:spcPts val="0"/>
              </a:spcBef>
              <a:spcAft>
                <a:spcPts val="0"/>
              </a:spcAft>
            </a:pPr>
            <a:r>
              <a:rPr sz="1250" b="0" i="0">
                <a:solidFill>
                  <a:srgbClr val="A8E8D8"/>
                </a:solidFill>
                <a:latin typeface="Calibri"/>
              </a:rPr>
              <a:t>concurrency: cancels a superseded run if you push twice in a row.   npm cache + Docker layer cache: repeat runs reuse work instead of re-downloading it.</a:t>
            </a:r>
          </a:p>
        </p:txBody>
      </p:sp>
      <p:sp>
        <p:nvSpPr>
          <p:cNvPr id="15" name="TextBox 14"/>
          <p:cNvSpPr txBox="1"/>
          <p:nvPr/>
        </p:nvSpPr>
        <p:spPr>
          <a:xfrm>
            <a:off x="640080" y="6382512"/>
            <a:ext cx="10911535" cy="256032"/>
          </a:xfrm>
          <a:prstGeom prst="rect">
            <a:avLst/>
          </a:prstGeom>
          <a:noFill/>
        </p:spPr>
        <p:txBody>
          <a:bodyPr wrap="square" lIns="0" rIns="0" tIns="0" bIns="0">
            <a:spAutoFit/>
          </a:bodyPr>
          <a:lstStyle/>
          <a:p>
            <a:pPr algn="l">
              <a:spcBef>
                <a:spcPts val="0"/>
              </a:spcBef>
              <a:spcAft>
                <a:spcPts val="0"/>
              </a:spcAft>
            </a:pPr>
            <a:r>
              <a:rPr sz="1050" b="0" i="0">
                <a:solidFill>
                  <a:srgbClr val="5C6B7A"/>
                </a:solidFill>
                <a:latin typeface="Calibri"/>
              </a:rPr>
              <a:t>docs/CICD.md §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5486400" cy="219456"/>
          </a:xfrm>
          <a:prstGeom prst="rect">
            <a:avLst/>
          </a:prstGeom>
          <a:noFill/>
        </p:spPr>
        <p:txBody>
          <a:bodyPr wrap="square" lIns="0" rIns="0" tIns="0" bIns="0">
            <a:spAutoFit/>
          </a:bodyPr>
          <a:lstStyle/>
          <a:p>
            <a:pPr algn="l">
              <a:spcBef>
                <a:spcPts val="0"/>
              </a:spcBef>
              <a:spcAft>
                <a:spcPts val="0"/>
              </a:spcAft>
            </a:pPr>
            <a:r>
              <a:rPr sz="1100" b="1" i="0" spc="160">
                <a:solidFill>
                  <a:srgbClr val="1C7293"/>
                </a:solidFill>
                <a:latin typeface="Calibri"/>
              </a:rPr>
              <a:t>CI STAGE 2  ·  THE INTERESTING PROBLEM</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Bef>
                <a:spcPts val="0"/>
              </a:spcBef>
              <a:spcAft>
                <a:spcPts val="0"/>
              </a:spcAft>
            </a:pPr>
            <a:r>
              <a:rPr sz="3200" b="1" i="0">
                <a:solidFill>
                  <a:srgbClr val="065A82"/>
                </a:solidFill>
                <a:latin typeface="Cambria"/>
              </a:rPr>
              <a:t>The tests need a real database — so CI creates one</a:t>
            </a:r>
          </a:p>
        </p:txBody>
      </p:sp>
      <p:sp>
        <p:nvSpPr>
          <p:cNvPr id="4" name="TextBox 3"/>
          <p:cNvSpPr txBox="1"/>
          <p:nvPr/>
        </p:nvSpPr>
        <p:spPr>
          <a:xfrm>
            <a:off x="640080" y="1051560"/>
            <a:ext cx="10545775" cy="365760"/>
          </a:xfrm>
          <a:prstGeom prst="rect">
            <a:avLst/>
          </a:prstGeom>
          <a:noFill/>
        </p:spPr>
        <p:txBody>
          <a:bodyPr wrap="square" lIns="0" rIns="0" tIns="0" bIns="0">
            <a:spAutoFit/>
          </a:bodyPr>
          <a:lstStyle/>
          <a:p>
            <a:pPr algn="l">
              <a:spcBef>
                <a:spcPts val="0"/>
              </a:spcBef>
              <a:spcAft>
                <a:spcPts val="0"/>
              </a:spcAft>
            </a:pPr>
            <a:r>
              <a:rPr sz="1450" b="0" i="0">
                <a:solidFill>
                  <a:srgbClr val="5C6B7A"/>
                </a:solidFill>
                <a:latin typeface="Calibri"/>
              </a:rPr>
              <a:t>api.test.js imports the real controllers, and those query PostgreSQL.</a:t>
            </a:r>
          </a:p>
        </p:txBody>
      </p:sp>
      <p:sp>
        <p:nvSpPr>
          <p:cNvPr id="5" name="Rounded Rectangle 4"/>
          <p:cNvSpPr/>
          <p:nvPr/>
        </p:nvSpPr>
        <p:spPr>
          <a:xfrm>
            <a:off x="640080" y="2148840"/>
            <a:ext cx="5303520" cy="25146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800"/>
              </a:spcAft>
            </a:pPr>
            <a:r>
              <a:rPr sz="1550" b="1" i="0">
                <a:solidFill>
                  <a:srgbClr val="065A82"/>
                </a:solidFill>
                <a:latin typeface="Cambria"/>
              </a:rPr>
              <a:t>A disposable PostgreSQL 16 service container</a:t>
            </a:r>
          </a:p>
          <a:p>
            <a:pPr algn="l" marL="200025" indent="-200025">
              <a:lnSpc>
                <a:spcPct val="110000"/>
              </a:lnSpc>
              <a:spcBef>
                <a:spcPts val="0"/>
              </a:spcBef>
              <a:spcAft>
                <a:spcPts val="500"/>
              </a:spcAft>
              <a:buChar char="•"/>
            </a:pPr>
            <a:r>
              <a:rPr sz="1250" b="0" i="0">
                <a:solidFill>
                  <a:srgbClr val="1B2233"/>
                </a:solidFill>
                <a:latin typeface="Calibri"/>
              </a:rPr>
              <a:t>It lives only for the length of the job, then vanishes</a:t>
            </a:r>
          </a:p>
          <a:p>
            <a:pPr algn="l" marL="200025" indent="-200025">
              <a:lnSpc>
                <a:spcPct val="110000"/>
              </a:lnSpc>
              <a:spcBef>
                <a:spcPts val="0"/>
              </a:spcBef>
              <a:spcAft>
                <a:spcPts val="500"/>
              </a:spcAft>
              <a:buChar char="•"/>
            </a:pPr>
            <a:r>
              <a:rPr sz="1250" b="0" i="0">
                <a:solidFill>
                  <a:srgbClr val="1B2233"/>
                </a:solidFill>
                <a:latin typeface="Calibri"/>
              </a:rPr>
              <a:t>A pg_isready health check stops our steps racing the database</a:t>
            </a:r>
          </a:p>
          <a:p>
            <a:pPr algn="l" marL="200025" indent="-200025">
              <a:lnSpc>
                <a:spcPct val="110000"/>
              </a:lnSpc>
              <a:spcBef>
                <a:spcPts val="0"/>
              </a:spcBef>
              <a:spcAft>
                <a:spcPts val="500"/>
              </a:spcAft>
              <a:buChar char="•"/>
            </a:pPr>
            <a:r>
              <a:rPr sz="1250" b="0" i="0">
                <a:solidFill>
                  <a:srgbClr val="1B2233"/>
                </a:solidFill>
                <a:latin typeface="Calibri"/>
              </a:rPr>
              <a:t>npm ci installs exact lockfile versions — reproducible, unlike npm install</a:t>
            </a:r>
          </a:p>
          <a:p>
            <a:pPr algn="l" marL="200025" indent="-200025">
              <a:lnSpc>
                <a:spcPct val="110000"/>
              </a:lnSpc>
              <a:spcBef>
                <a:spcPts val="0"/>
              </a:spcBef>
              <a:spcAft>
                <a:spcPts val="500"/>
              </a:spcAft>
              <a:buChar char="•"/>
            </a:pPr>
            <a:r>
              <a:rPr sz="1250" b="0" i="0">
                <a:solidFill>
                  <a:srgbClr val="1B2233"/>
                </a:solidFill>
                <a:latin typeface="Calibri"/>
              </a:rPr>
              <a:t>db:init runs schema.sql: every table and all seed data, from scratch</a:t>
            </a:r>
          </a:p>
          <a:p>
            <a:pPr algn="l" marL="200025" indent="-200025">
              <a:lnSpc>
                <a:spcPct val="110000"/>
              </a:lnSpc>
              <a:spcBef>
                <a:spcPts val="0"/>
              </a:spcBef>
              <a:spcAft>
                <a:spcPts val="500"/>
              </a:spcAft>
              <a:buChar char="•"/>
            </a:pPr>
            <a:r>
              <a:rPr sz="1250" b="0" i="0">
                <a:solidFill>
                  <a:srgbClr val="1B2233"/>
                </a:solidFill>
                <a:latin typeface="Calibri"/>
              </a:rPr>
              <a:t>Then npm test, then the server boots and /api/health is polled</a:t>
            </a:r>
          </a:p>
        </p:txBody>
      </p:sp>
      <p:sp>
        <p:nvSpPr>
          <p:cNvPr id="6" name="Rounded Rectangle 5"/>
          <p:cNvSpPr/>
          <p:nvPr/>
        </p:nvSpPr>
        <p:spPr>
          <a:xfrm>
            <a:off x="6245352" y="2148840"/>
            <a:ext cx="5303520" cy="2514600"/>
          </a:xfrm>
          <a:prstGeom prst="roundRect">
            <a:avLst>
              <a:gd name="adj" fmla="val 4000"/>
            </a:avLst>
          </a:prstGeom>
          <a:solidFill>
            <a:srgbClr val="18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lnSpc>
                <a:spcPct val="105000"/>
              </a:lnSpc>
              <a:spcBef>
                <a:spcPts val="0"/>
              </a:spcBef>
              <a:spcAft>
                <a:spcPts val="200"/>
              </a:spcAft>
            </a:pPr>
            <a:r>
              <a:rPr sz="1250" b="0" i="0">
                <a:solidFill>
                  <a:srgbClr val="B8F0E0"/>
                </a:solidFill>
                <a:latin typeface="Consolas"/>
              </a:rPr>
              <a:t>services:</a:t>
            </a:r>
          </a:p>
          <a:p>
            <a:pPr algn="l">
              <a:lnSpc>
                <a:spcPct val="105000"/>
              </a:lnSpc>
              <a:spcBef>
                <a:spcPts val="0"/>
              </a:spcBef>
              <a:spcAft>
                <a:spcPts val="200"/>
              </a:spcAft>
            </a:pPr>
            <a:r>
              <a:rPr sz="1250" b="0" i="0">
                <a:solidFill>
                  <a:srgbClr val="B8F0E0"/>
                </a:solidFill>
                <a:latin typeface="Consolas"/>
              </a:rPr>
              <a:t>  postgres:</a:t>
            </a:r>
          </a:p>
          <a:p>
            <a:pPr algn="l">
              <a:lnSpc>
                <a:spcPct val="105000"/>
              </a:lnSpc>
              <a:spcBef>
                <a:spcPts val="0"/>
              </a:spcBef>
              <a:spcAft>
                <a:spcPts val="200"/>
              </a:spcAft>
            </a:pPr>
            <a:r>
              <a:rPr sz="1250" b="0" i="0">
                <a:solidFill>
                  <a:srgbClr val="B8F0E0"/>
                </a:solidFill>
                <a:latin typeface="Consolas"/>
              </a:rPr>
              <a:t>    image: postgres:16-alpine</a:t>
            </a:r>
          </a:p>
          <a:p>
            <a:pPr algn="l">
              <a:lnSpc>
                <a:spcPct val="105000"/>
              </a:lnSpc>
              <a:spcBef>
                <a:spcPts val="0"/>
              </a:spcBef>
              <a:spcAft>
                <a:spcPts val="200"/>
              </a:spcAft>
            </a:pPr>
            <a:r>
              <a:rPr sz="1250" b="0" i="0">
                <a:solidFill>
                  <a:srgbClr val="B8F0E0"/>
                </a:solidFill>
                <a:latin typeface="Consolas"/>
              </a:rPr>
              <a:t>    env:</a:t>
            </a:r>
          </a:p>
          <a:p>
            <a:pPr algn="l">
              <a:lnSpc>
                <a:spcPct val="105000"/>
              </a:lnSpc>
              <a:spcBef>
                <a:spcPts val="0"/>
              </a:spcBef>
              <a:spcAft>
                <a:spcPts val="200"/>
              </a:spcAft>
            </a:pPr>
            <a:r>
              <a:rPr sz="1250" b="0" i="0">
                <a:solidFill>
                  <a:srgbClr val="B8F0E0"/>
                </a:solidFill>
                <a:latin typeface="Consolas"/>
              </a:rPr>
              <a:t>      POSTGRES_DB: nextstep_test</a:t>
            </a:r>
          </a:p>
          <a:p>
            <a:pPr algn="l">
              <a:lnSpc>
                <a:spcPct val="105000"/>
              </a:lnSpc>
              <a:spcBef>
                <a:spcPts val="0"/>
              </a:spcBef>
              <a:spcAft>
                <a:spcPts val="200"/>
              </a:spcAft>
            </a:pPr>
            <a:r>
              <a:rPr sz="1250" b="0" i="0">
                <a:solidFill>
                  <a:srgbClr val="B8F0E0"/>
                </a:solidFill>
                <a:latin typeface="Consolas"/>
              </a:rPr>
              <a:t>    options: &gt;-</a:t>
            </a:r>
          </a:p>
          <a:p>
            <a:pPr algn="l">
              <a:lnSpc>
                <a:spcPct val="105000"/>
              </a:lnSpc>
              <a:spcBef>
                <a:spcPts val="0"/>
              </a:spcBef>
              <a:spcAft>
                <a:spcPts val="200"/>
              </a:spcAft>
            </a:pPr>
            <a:r>
              <a:rPr sz="1250" b="0" i="0">
                <a:solidFill>
                  <a:srgbClr val="B8F0E0"/>
                </a:solidFill>
                <a:latin typeface="Consolas"/>
              </a:rPr>
              <a:t>      --health-cmd "pg_isready -U postgres"</a:t>
            </a:r>
          </a:p>
          <a:p>
            <a:pPr algn="l">
              <a:lnSpc>
                <a:spcPct val="105000"/>
              </a:lnSpc>
              <a:spcBef>
                <a:spcPts val="0"/>
              </a:spcBef>
              <a:spcAft>
                <a:spcPts val="200"/>
              </a:spcAft>
            </a:pPr>
            <a:r>
              <a:rPr sz="1250" b="0" i="0">
                <a:solidFill>
                  <a:srgbClr val="B8F0E0"/>
                </a:solidFill>
                <a:latin typeface="Consolas"/>
              </a:rPr>
              <a:t>      --health-interval 10s</a:t>
            </a:r>
          </a:p>
          <a:p>
            <a:pPr algn="l">
              <a:lnSpc>
                <a:spcPct val="105000"/>
              </a:lnSpc>
              <a:spcBef>
                <a:spcPts val="0"/>
              </a:spcBef>
              <a:spcAft>
                <a:spcPts val="200"/>
              </a:spcAft>
            </a:pPr>
            <a:r>
              <a:rPr sz="1250" b="0" i="0">
                <a:solidFill>
                  <a:srgbClr val="B8F0E0"/>
                </a:solidFill>
                <a:latin typeface="Consolas"/>
              </a:rPr>
              <a:t>      --health-retries 10</a:t>
            </a:r>
          </a:p>
        </p:txBody>
      </p:sp>
      <p:sp>
        <p:nvSpPr>
          <p:cNvPr id="7" name="Rounded Rectangle 6"/>
          <p:cNvSpPr/>
          <p:nvPr/>
        </p:nvSpPr>
        <p:spPr>
          <a:xfrm>
            <a:off x="640080" y="4864608"/>
            <a:ext cx="5303520" cy="1234440"/>
          </a:xfrm>
          <a:prstGeom prst="roundRect">
            <a:avLst>
              <a:gd name="adj" fmla="val 6000"/>
            </a:avLst>
          </a:prstGeom>
          <a:solidFill>
            <a:srgbClr val="D9EE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500"/>
              </a:spcAft>
            </a:pPr>
            <a:r>
              <a:rPr sz="1400" b="1" i="0">
                <a:solidFill>
                  <a:srgbClr val="0B6B53"/>
                </a:solidFill>
                <a:latin typeface="Cambria"/>
              </a:rPr>
              <a:t>Why this matters</a:t>
            </a:r>
          </a:p>
          <a:p>
            <a:pPr algn="l">
              <a:lnSpc>
                <a:spcPct val="112000"/>
              </a:lnSpc>
              <a:spcBef>
                <a:spcPts val="0"/>
              </a:spcBef>
              <a:spcAft>
                <a:spcPts val="0"/>
              </a:spcAft>
            </a:pPr>
            <a:r>
              <a:rPr sz="1250" b="0" i="0">
                <a:solidFill>
                  <a:srgbClr val="1B2233"/>
                </a:solidFill>
                <a:latin typeface="Calibri"/>
              </a:rPr>
              <a:t>CI never touches the team's shared Supabase data, and results can't be polluted by leftover rows. Every run starts from an identical, known state.</a:t>
            </a:r>
          </a:p>
        </p:txBody>
      </p:sp>
      <p:sp>
        <p:nvSpPr>
          <p:cNvPr id="8" name="Rounded Rectangle 7"/>
          <p:cNvSpPr/>
          <p:nvPr/>
        </p:nvSpPr>
        <p:spPr>
          <a:xfrm>
            <a:off x="6245352" y="4864608"/>
            <a:ext cx="5303520" cy="1234440"/>
          </a:xfrm>
          <a:prstGeom prst="roundRect">
            <a:avLst>
              <a:gd name="adj" fmla="val 6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500"/>
              </a:spcAft>
            </a:pPr>
            <a:r>
              <a:rPr sz="1400" b="1" i="0">
                <a:solidFill>
                  <a:srgbClr val="065A82"/>
                </a:solidFill>
                <a:latin typeface="Cambria"/>
              </a:rPr>
              <a:t>One code change this required</a:t>
            </a:r>
          </a:p>
          <a:p>
            <a:pPr algn="l">
              <a:lnSpc>
                <a:spcPct val="112000"/>
              </a:lnSpc>
              <a:spcBef>
                <a:spcPts val="0"/>
              </a:spcBef>
              <a:spcAft>
                <a:spcPts val="0"/>
              </a:spcAft>
            </a:pPr>
            <a:r>
              <a:rPr sz="1250" b="0" i="0">
                <a:solidFill>
                  <a:srgbClr val="1B2233"/>
                </a:solidFill>
                <a:latin typeface="Calibri"/>
              </a:rPr>
              <a:t>config/db.js hard-coded SSL on for Supabase; a plain container speaks none. It now reads DATABASE_SSL — unset = on (Supabase), “disable” = off (CI).</a:t>
            </a:r>
          </a:p>
        </p:txBody>
      </p:sp>
      <p:sp>
        <p:nvSpPr>
          <p:cNvPr id="9" name="TextBox 8"/>
          <p:cNvSpPr txBox="1"/>
          <p:nvPr/>
        </p:nvSpPr>
        <p:spPr>
          <a:xfrm>
            <a:off x="640080" y="6382512"/>
            <a:ext cx="10911535" cy="256032"/>
          </a:xfrm>
          <a:prstGeom prst="rect">
            <a:avLst/>
          </a:prstGeom>
          <a:noFill/>
        </p:spPr>
        <p:txBody>
          <a:bodyPr wrap="square" lIns="0" rIns="0" tIns="0" bIns="0">
            <a:spAutoFit/>
          </a:bodyPr>
          <a:lstStyle/>
          <a:p>
            <a:pPr algn="l">
              <a:spcBef>
                <a:spcPts val="0"/>
              </a:spcBef>
              <a:spcAft>
                <a:spcPts val="0"/>
              </a:spcAft>
            </a:pPr>
            <a:r>
              <a:rPr sz="1050" b="0" i="0">
                <a:solidFill>
                  <a:srgbClr val="5C6B7A"/>
                </a:solidFill>
                <a:latin typeface="Calibri"/>
              </a:rPr>
              <a:t>backend/config/db.js  ·  backend/db/init.js  ·  backend/db/migrate.js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5486400" cy="219456"/>
          </a:xfrm>
          <a:prstGeom prst="rect">
            <a:avLst/>
          </a:prstGeom>
          <a:noFill/>
        </p:spPr>
        <p:txBody>
          <a:bodyPr wrap="square" lIns="0" rIns="0" tIns="0" bIns="0">
            <a:spAutoFit/>
          </a:bodyPr>
          <a:lstStyle/>
          <a:p>
            <a:pPr algn="l">
              <a:spcBef>
                <a:spcPts val="0"/>
              </a:spcBef>
              <a:spcAft>
                <a:spcPts val="0"/>
              </a:spcAft>
            </a:pPr>
            <a:r>
              <a:rPr sz="1100" b="1" i="0" spc="160">
                <a:solidFill>
                  <a:srgbClr val="1C7293"/>
                </a:solidFill>
                <a:latin typeface="Calibri"/>
              </a:rPr>
              <a:t>THE OTHER THREE GUARDS</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Bef>
                <a:spcPts val="0"/>
              </a:spcBef>
              <a:spcAft>
                <a:spcPts val="0"/>
              </a:spcAft>
            </a:pPr>
            <a:r>
              <a:rPr sz="3200" b="1" i="0">
                <a:solidFill>
                  <a:srgbClr val="065A82"/>
                </a:solidFill>
                <a:latin typeface="Cambria"/>
              </a:rPr>
              <a:t>Catching the failures a unit test can't see</a:t>
            </a:r>
          </a:p>
        </p:txBody>
      </p:sp>
      <p:sp>
        <p:nvSpPr>
          <p:cNvPr id="4" name="TextBox 3"/>
          <p:cNvSpPr txBox="1"/>
          <p:nvPr/>
        </p:nvSpPr>
        <p:spPr>
          <a:xfrm>
            <a:off x="640080" y="1051560"/>
            <a:ext cx="10545775" cy="365760"/>
          </a:xfrm>
          <a:prstGeom prst="rect">
            <a:avLst/>
          </a:prstGeom>
          <a:noFill/>
        </p:spPr>
        <p:txBody>
          <a:bodyPr wrap="square" lIns="0" rIns="0" tIns="0" bIns="0">
            <a:spAutoFit/>
          </a:bodyPr>
          <a:lstStyle/>
          <a:p>
            <a:pPr algn="l">
              <a:spcBef>
                <a:spcPts val="0"/>
              </a:spcBef>
              <a:spcAft>
                <a:spcPts val="0"/>
              </a:spcAft>
            </a:pPr>
            <a:r>
              <a:rPr sz="1450" b="0" i="0">
                <a:solidFill>
                  <a:srgbClr val="5C6B7A"/>
                </a:solidFill>
                <a:latin typeface="Calibri"/>
              </a:rPr>
              <a:t>Three different kinds of “broken”, each caught by a different stage.</a:t>
            </a:r>
          </a:p>
        </p:txBody>
      </p:sp>
      <p:sp>
        <p:nvSpPr>
          <p:cNvPr id="5" name="Rounded Rectangle 4"/>
          <p:cNvSpPr/>
          <p:nvPr/>
        </p:nvSpPr>
        <p:spPr>
          <a:xfrm>
            <a:off x="640080" y="2148840"/>
            <a:ext cx="10911535" cy="1207008"/>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Aft>
                <a:spcPts val="600"/>
              </a:spcAft>
            </a:pPr>
            <a:r>
              <a:rPr sz="1600" b="1">
                <a:solidFill>
                  <a:srgbClr val="065A82"/>
                </a:solidFill>
                <a:latin typeface="Cambria"/>
              </a:rPr>
              <a:t>Does it even start?    </a:t>
            </a:r>
            <a:r>
              <a:rPr sz="1250">
                <a:solidFill>
                  <a:srgbClr val="1C7293"/>
                </a:solidFill>
                <a:latin typeface="Consolas"/>
              </a:rPr>
              <a:t>stage 2  ·  GET /api/health</a:t>
            </a:r>
          </a:p>
          <a:p>
            <a:pPr algn="l">
              <a:lnSpc>
                <a:spcPct val="112000"/>
              </a:lnSpc>
              <a:spcBef>
                <a:spcPts val="0"/>
              </a:spcBef>
              <a:spcAft>
                <a:spcPts val="0"/>
              </a:spcAft>
            </a:pPr>
            <a:r>
              <a:rPr sz="1250" b="0" i="0">
                <a:solidFill>
                  <a:srgbClr val="1B2233"/>
                </a:solidFill>
                <a:latin typeface="Calibri"/>
              </a:rPr>
              <a:t>Passing unit tests do not prove the application boots. The smoke test launches server.js, polls the health endpoint until it answers, and fails the job if it never does.</a:t>
            </a:r>
          </a:p>
        </p:txBody>
      </p:sp>
      <p:sp>
        <p:nvSpPr>
          <p:cNvPr id="6" name="Oval 5"/>
          <p:cNvSpPr/>
          <p:nvPr/>
        </p:nvSpPr>
        <p:spPr>
          <a:xfrm>
            <a:off x="10682935" y="2478024"/>
            <a:ext cx="548640" cy="54864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7" name="Rounded Rectangle 6"/>
          <p:cNvSpPr/>
          <p:nvPr/>
        </p:nvSpPr>
        <p:spPr>
          <a:xfrm>
            <a:off x="640080" y="3502152"/>
            <a:ext cx="10911535" cy="1207008"/>
          </a:xfrm>
          <a:prstGeom prst="roundRect">
            <a:avLst>
              <a:gd name="adj" fmla="val 6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Aft>
                <a:spcPts val="600"/>
              </a:spcAft>
            </a:pPr>
            <a:r>
              <a:rPr sz="1600" b="1">
                <a:solidFill>
                  <a:srgbClr val="065A82"/>
                </a:solidFill>
                <a:latin typeface="Cambria"/>
              </a:rPr>
              <a:t>Production build    </a:t>
            </a:r>
            <a:r>
              <a:rPr sz="1250">
                <a:solidFill>
                  <a:srgbClr val="1C7293"/>
                </a:solidFill>
                <a:latin typeface="Consolas"/>
              </a:rPr>
              <a:t>stage 3  ·  next build</a:t>
            </a:r>
          </a:p>
          <a:p>
            <a:pPr algn="l">
              <a:lnSpc>
                <a:spcPct val="112000"/>
              </a:lnSpc>
              <a:spcBef>
                <a:spcPts val="0"/>
              </a:spcBef>
              <a:spcAft>
                <a:spcPts val="0"/>
              </a:spcAft>
            </a:pPr>
            <a:r>
              <a:rPr sz="1250" b="0" i="0">
                <a:solidFill>
                  <a:srgbClr val="1B2233"/>
                </a:solidFill>
                <a:latin typeface="Calibri"/>
              </a:rPr>
              <a:t>Broken imports and invalid server/client component usage compile fine under next dev but fail a real build. The build output is uploaded as an artifact, so the exact bytes each commit produced can be downloaded.</a:t>
            </a:r>
          </a:p>
        </p:txBody>
      </p:sp>
      <p:sp>
        <p:nvSpPr>
          <p:cNvPr id="8" name="Oval 7"/>
          <p:cNvSpPr/>
          <p:nvPr/>
        </p:nvSpPr>
        <p:spPr>
          <a:xfrm>
            <a:off x="10682935" y="3831336"/>
            <a:ext cx="548640" cy="54864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3</a:t>
            </a:r>
          </a:p>
        </p:txBody>
      </p:sp>
      <p:sp>
        <p:nvSpPr>
          <p:cNvPr id="9" name="Rounded Rectangle 8"/>
          <p:cNvSpPr/>
          <p:nvPr/>
        </p:nvSpPr>
        <p:spPr>
          <a:xfrm>
            <a:off x="640080" y="4855464"/>
            <a:ext cx="10911535" cy="1207008"/>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ctr">
              <a:spcAft>
                <a:spcPts val="600"/>
              </a:spcAft>
            </a:pPr>
            <a:r>
              <a:rPr sz="1600" b="1">
                <a:solidFill>
                  <a:srgbClr val="065A82"/>
                </a:solidFill>
                <a:latin typeface="Cambria"/>
              </a:rPr>
              <a:t>Container build    </a:t>
            </a:r>
            <a:r>
              <a:rPr sz="1250">
                <a:solidFill>
                  <a:srgbClr val="1C7293"/>
                </a:solidFill>
                <a:latin typeface="Consolas"/>
              </a:rPr>
              <a:t>stage 4  ·  docker build × 2</a:t>
            </a:r>
          </a:p>
          <a:p>
            <a:pPr algn="l">
              <a:lnSpc>
                <a:spcPct val="112000"/>
              </a:lnSpc>
              <a:spcBef>
                <a:spcPts val="0"/>
              </a:spcBef>
              <a:spcAft>
                <a:spcPts val="0"/>
              </a:spcAft>
            </a:pPr>
            <a:r>
              <a:rPr sz="1250" b="0" i="0">
                <a:solidFill>
                  <a:srgbClr val="1B2233"/>
                </a:solidFill>
                <a:latin typeface="Calibri"/>
              </a:rPr>
              <a:t>A broken Dockerfile is completely invisible to npm test. Both images are built on every run — nothing is pushed here, that is CD's job. GitHub Actions layer caching keeps it fast.</a:t>
            </a:r>
          </a:p>
        </p:txBody>
      </p:sp>
      <p:sp>
        <p:nvSpPr>
          <p:cNvPr id="10" name="Oval 9"/>
          <p:cNvSpPr/>
          <p:nvPr/>
        </p:nvSpPr>
        <p:spPr>
          <a:xfrm>
            <a:off x="10682935" y="5184648"/>
            <a:ext cx="548640" cy="54864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4</a:t>
            </a:r>
          </a:p>
        </p:txBody>
      </p:sp>
      <p:sp>
        <p:nvSpPr>
          <p:cNvPr id="11" name="TextBox 10"/>
          <p:cNvSpPr txBox="1"/>
          <p:nvPr/>
        </p:nvSpPr>
        <p:spPr>
          <a:xfrm>
            <a:off x="640080" y="6382512"/>
            <a:ext cx="10911535" cy="256032"/>
          </a:xfrm>
          <a:prstGeom prst="rect">
            <a:avLst/>
          </a:prstGeom>
          <a:noFill/>
        </p:spPr>
        <p:txBody>
          <a:bodyPr wrap="square" lIns="0" rIns="0" tIns="0" bIns="0">
            <a:spAutoFit/>
          </a:bodyPr>
          <a:lstStyle/>
          <a:p>
            <a:pPr algn="l">
              <a:spcBef>
                <a:spcPts val="0"/>
              </a:spcBef>
              <a:spcAft>
                <a:spcPts val="0"/>
              </a:spcAft>
            </a:pPr>
            <a:r>
              <a:rPr sz="1050" b="0" i="0">
                <a:solidFill>
                  <a:srgbClr val="5C6B7A"/>
                </a:solidFill>
                <a:latin typeface="Calibri"/>
              </a:rPr>
              <a:t>.github/workflows/ci.yml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sp>
        <p:nvSpPr>
          <p:cNvPr id="2" name="TextBox 1"/>
          <p:cNvSpPr txBox="1"/>
          <p:nvPr/>
        </p:nvSpPr>
        <p:spPr>
          <a:xfrm>
            <a:off x="640080" y="256032"/>
            <a:ext cx="5486400" cy="219456"/>
          </a:xfrm>
          <a:prstGeom prst="rect">
            <a:avLst/>
          </a:prstGeom>
          <a:noFill/>
        </p:spPr>
        <p:txBody>
          <a:bodyPr wrap="square" lIns="0" rIns="0" tIns="0" bIns="0">
            <a:spAutoFit/>
          </a:bodyPr>
          <a:lstStyle/>
          <a:p>
            <a:pPr algn="l">
              <a:spcBef>
                <a:spcPts val="0"/>
              </a:spcBef>
              <a:spcAft>
                <a:spcPts val="0"/>
              </a:spcAft>
            </a:pPr>
            <a:r>
              <a:rPr sz="1100" b="1" i="0" spc="160">
                <a:solidFill>
                  <a:srgbClr val="02C39A"/>
                </a:solidFill>
                <a:latin typeface="Calibri"/>
              </a:rPr>
              <a:t>CD PIPELINE</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Bef>
                <a:spcPts val="0"/>
              </a:spcBef>
              <a:spcAft>
                <a:spcPts val="0"/>
              </a:spcAft>
            </a:pPr>
            <a:r>
              <a:rPr sz="3200" b="1" i="0">
                <a:solidFill>
                  <a:srgbClr val="FFFFFF"/>
                </a:solidFill>
                <a:latin typeface="Cambria"/>
              </a:rPr>
              <a:t>Merge to main → gate → publish → release</a:t>
            </a:r>
          </a:p>
        </p:txBody>
      </p:sp>
      <p:sp>
        <p:nvSpPr>
          <p:cNvPr id="4" name="TextBox 3"/>
          <p:cNvSpPr txBox="1"/>
          <p:nvPr/>
        </p:nvSpPr>
        <p:spPr>
          <a:xfrm>
            <a:off x="640080" y="1051560"/>
            <a:ext cx="10545775" cy="365760"/>
          </a:xfrm>
          <a:prstGeom prst="rect">
            <a:avLst/>
          </a:prstGeom>
          <a:noFill/>
        </p:spPr>
        <p:txBody>
          <a:bodyPr wrap="square" lIns="0" rIns="0" tIns="0" bIns="0">
            <a:spAutoFit/>
          </a:bodyPr>
          <a:lstStyle/>
          <a:p>
            <a:pPr algn="l">
              <a:spcBef>
                <a:spcPts val="0"/>
              </a:spcBef>
              <a:spcAft>
                <a:spcPts val="0"/>
              </a:spcAft>
            </a:pPr>
            <a:r>
              <a:rPr sz="1450" b="0" i="0">
                <a:solidFill>
                  <a:srgbClr val="C5D5E0"/>
                </a:solidFill>
                <a:latin typeface="Calibri"/>
              </a:rPr>
              <a:t>Three jobs, each one blocked by the previous.</a:t>
            </a:r>
          </a:p>
        </p:txBody>
      </p:sp>
      <p:sp>
        <p:nvSpPr>
          <p:cNvPr id="5" name="TextBox 4"/>
          <p:cNvSpPr txBox="1"/>
          <p:nvPr/>
        </p:nvSpPr>
        <p:spPr>
          <a:xfrm>
            <a:off x="640080" y="2103120"/>
            <a:ext cx="1828800" cy="457200"/>
          </a:xfrm>
          <a:prstGeom prst="rect">
            <a:avLst/>
          </a:prstGeom>
          <a:noFill/>
        </p:spPr>
        <p:txBody>
          <a:bodyPr wrap="square" lIns="0" rIns="0" tIns="0" bIns="0">
            <a:spAutoFit/>
          </a:bodyPr>
          <a:lstStyle/>
          <a:p>
            <a:pPr algn="l">
              <a:lnSpc>
                <a:spcPct val="110000"/>
              </a:lnSpc>
              <a:spcBef>
                <a:spcPts val="0"/>
              </a:spcBef>
              <a:spcAft>
                <a:spcPts val="0"/>
              </a:spcAft>
            </a:pPr>
            <a:r>
              <a:rPr sz="1300" b="1" i="0">
                <a:solidFill>
                  <a:srgbClr val="9FD9E8"/>
                </a:solidFill>
                <a:latin typeface="Calibri"/>
              </a:rPr>
              <a:t>PR merged
into main</a:t>
            </a:r>
          </a:p>
        </p:txBody>
      </p:sp>
      <p:sp>
        <p:nvSpPr>
          <p:cNvPr id="6" name="Down Arrow 5"/>
          <p:cNvSpPr/>
          <p:nvPr/>
        </p:nvSpPr>
        <p:spPr>
          <a:xfrm>
            <a:off x="960119" y="2788920"/>
            <a:ext cx="274320" cy="329184"/>
          </a:xfrm>
          <a:prstGeom prst="down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51760" y="2103120"/>
            <a:ext cx="2724912" cy="224028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400"/>
              </a:spcAft>
            </a:pPr>
            <a:r>
              <a:rPr sz="1700" b="1" i="0">
                <a:solidFill>
                  <a:srgbClr val="FFFFFF"/>
                </a:solidFill>
                <a:latin typeface="Cambria"/>
              </a:rPr>
              <a:t>CI gate</a:t>
            </a:r>
          </a:p>
          <a:p>
            <a:pPr algn="l">
              <a:lnSpc>
                <a:spcPct val="105000"/>
              </a:lnSpc>
              <a:spcBef>
                <a:spcPts val="0"/>
              </a:spcBef>
              <a:spcAft>
                <a:spcPts val="800"/>
              </a:spcAft>
            </a:pPr>
            <a:r>
              <a:rPr sz="1100" b="0" i="0">
                <a:solidFill>
                  <a:srgbClr val="02C39A"/>
                </a:solidFill>
                <a:latin typeface="Consolas"/>
              </a:rPr>
              <a:t>uses: ./.github/workflows/ci.yml</a:t>
            </a:r>
          </a:p>
          <a:p>
            <a:pPr algn="l">
              <a:lnSpc>
                <a:spcPct val="112000"/>
              </a:lnSpc>
              <a:spcBef>
                <a:spcPts val="0"/>
              </a:spcBef>
              <a:spcAft>
                <a:spcPts val="0"/>
              </a:spcAft>
            </a:pPr>
            <a:r>
              <a:rPr sz="1250" b="0" i="0">
                <a:solidFill>
                  <a:srgbClr val="D8E3EC"/>
                </a:solidFill>
                <a:latin typeface="Calibri"/>
              </a:rPr>
              <a:t>Calls the CI workflow instead of copying it. One failing test and nothing below ever starts.</a:t>
            </a:r>
          </a:p>
        </p:txBody>
      </p:sp>
      <p:sp>
        <p:nvSpPr>
          <p:cNvPr id="8" name="Oval 7"/>
          <p:cNvSpPr/>
          <p:nvPr/>
        </p:nvSpPr>
        <p:spPr>
          <a:xfrm>
            <a:off x="4809744" y="1865376"/>
            <a:ext cx="475488" cy="475488"/>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1295C"/>
                </a:solidFill>
                <a:latin typeface="Calibri"/>
              </a:rPr>
              <a:t>1</a:t>
            </a:r>
          </a:p>
        </p:txBody>
      </p:sp>
      <p:sp>
        <p:nvSpPr>
          <p:cNvPr id="9" name="Right Arrow 8"/>
          <p:cNvSpPr/>
          <p:nvPr/>
        </p:nvSpPr>
        <p:spPr>
          <a:xfrm>
            <a:off x="5431536" y="3063240"/>
            <a:ext cx="274320" cy="256032"/>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715000" y="2103120"/>
            <a:ext cx="2724912" cy="224028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400"/>
              </a:spcAft>
            </a:pPr>
            <a:r>
              <a:rPr sz="1700" b="1" i="0">
                <a:solidFill>
                  <a:srgbClr val="FFFFFF"/>
                </a:solidFill>
                <a:latin typeface="Cambria"/>
              </a:rPr>
              <a:t>Publish to GHCR</a:t>
            </a:r>
          </a:p>
          <a:p>
            <a:pPr algn="l">
              <a:lnSpc>
                <a:spcPct val="105000"/>
              </a:lnSpc>
              <a:spcBef>
                <a:spcPts val="0"/>
              </a:spcBef>
              <a:spcAft>
                <a:spcPts val="800"/>
              </a:spcAft>
            </a:pPr>
            <a:r>
              <a:rPr sz="1100" b="0" i="0">
                <a:solidFill>
                  <a:srgbClr val="02C39A"/>
                </a:solidFill>
                <a:latin typeface="Consolas"/>
              </a:rPr>
              <a:t>ghcr.io/…/backend:&lt;sha&gt;</a:t>
            </a:r>
          </a:p>
          <a:p>
            <a:pPr algn="l">
              <a:lnSpc>
                <a:spcPct val="112000"/>
              </a:lnSpc>
              <a:spcBef>
                <a:spcPts val="0"/>
              </a:spcBef>
              <a:spcAft>
                <a:spcPts val="0"/>
              </a:spcAft>
            </a:pPr>
            <a:r>
              <a:rPr sz="1250" b="0" i="0">
                <a:solidFill>
                  <a:srgbClr val="D8E3EC"/>
                </a:solidFill>
                <a:latin typeface="Calibri"/>
              </a:rPr>
              <a:t>Both images pushed with two tags: the commit SHA (immutable) and latest. Auth uses the automatic GITHUB_TOKEN.</a:t>
            </a:r>
          </a:p>
        </p:txBody>
      </p:sp>
      <p:sp>
        <p:nvSpPr>
          <p:cNvPr id="11" name="Oval 10"/>
          <p:cNvSpPr/>
          <p:nvPr/>
        </p:nvSpPr>
        <p:spPr>
          <a:xfrm>
            <a:off x="7872984" y="1865376"/>
            <a:ext cx="475488" cy="475488"/>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1295C"/>
                </a:solidFill>
                <a:latin typeface="Calibri"/>
              </a:rPr>
              <a:t>2</a:t>
            </a:r>
          </a:p>
        </p:txBody>
      </p:sp>
      <p:sp>
        <p:nvSpPr>
          <p:cNvPr id="12" name="Right Arrow 11"/>
          <p:cNvSpPr/>
          <p:nvPr/>
        </p:nvSpPr>
        <p:spPr>
          <a:xfrm>
            <a:off x="8494776" y="3063240"/>
            <a:ext cx="274320" cy="256032"/>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778240" y="2103120"/>
            <a:ext cx="2724912" cy="224028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400"/>
              </a:spcAft>
            </a:pPr>
            <a:r>
              <a:rPr sz="1700" b="1" i="0">
                <a:solidFill>
                  <a:srgbClr val="FFFFFF"/>
                </a:solidFill>
                <a:latin typeface="Cambria"/>
              </a:rPr>
              <a:t>Deploy</a:t>
            </a:r>
          </a:p>
          <a:p>
            <a:pPr algn="l">
              <a:lnSpc>
                <a:spcPct val="105000"/>
              </a:lnSpc>
              <a:spcBef>
                <a:spcPts val="0"/>
              </a:spcBef>
              <a:spcAft>
                <a:spcPts val="800"/>
              </a:spcAft>
            </a:pPr>
            <a:r>
              <a:rPr sz="1100" b="0" i="0">
                <a:solidFill>
                  <a:srgbClr val="02C39A"/>
                </a:solidFill>
                <a:latin typeface="Consolas"/>
              </a:rPr>
              <a:t>environment: production</a:t>
            </a:r>
          </a:p>
          <a:p>
            <a:pPr algn="l">
              <a:lnSpc>
                <a:spcPct val="112000"/>
              </a:lnSpc>
              <a:spcBef>
                <a:spcPts val="0"/>
              </a:spcBef>
              <a:spcAft>
                <a:spcPts val="0"/>
              </a:spcAft>
            </a:pPr>
            <a:r>
              <a:rPr sz="1250" b="0" i="0">
                <a:solidFill>
                  <a:srgbClr val="D8E3EC"/>
                </a:solidFill>
                <a:latin typeface="Calibri"/>
              </a:rPr>
              <a:t>Pulls the images for this exact commit onto the server, restarts the stack, then verifies /api/health.</a:t>
            </a:r>
          </a:p>
        </p:txBody>
      </p:sp>
      <p:sp>
        <p:nvSpPr>
          <p:cNvPr id="14" name="Oval 13"/>
          <p:cNvSpPr/>
          <p:nvPr/>
        </p:nvSpPr>
        <p:spPr>
          <a:xfrm>
            <a:off x="10936224" y="1865376"/>
            <a:ext cx="475488" cy="475488"/>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1295C"/>
                </a:solidFill>
                <a:latin typeface="Calibri"/>
              </a:rPr>
              <a:t>3</a:t>
            </a:r>
          </a:p>
        </p:txBody>
      </p:sp>
      <p:sp>
        <p:nvSpPr>
          <p:cNvPr id="15" name="Rounded Rectangle 14"/>
          <p:cNvSpPr/>
          <p:nvPr/>
        </p:nvSpPr>
        <p:spPr>
          <a:xfrm>
            <a:off x="640080" y="4709160"/>
            <a:ext cx="10911535" cy="1371600"/>
          </a:xfrm>
          <a:prstGeom prst="roundRect">
            <a:avLst>
              <a:gd name="adj" fmla="val 6000"/>
            </a:avLst>
          </a:prstGeom>
          <a:solidFill>
            <a:srgbClr val="18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500"/>
              </a:spcAft>
            </a:pPr>
            <a:r>
              <a:rPr sz="1450" b="1" i="0">
                <a:solidFill>
                  <a:srgbClr val="02C39A"/>
                </a:solidFill>
                <a:latin typeface="Cambria"/>
              </a:rPr>
              <a:t>Least privilege, on purpose</a:t>
            </a:r>
          </a:p>
          <a:p>
            <a:pPr algn="l">
              <a:lnSpc>
                <a:spcPct val="114000"/>
              </a:lnSpc>
              <a:spcBef>
                <a:spcPts val="0"/>
              </a:spcBef>
              <a:spcAft>
                <a:spcPts val="0"/>
              </a:spcAft>
            </a:pPr>
            <a:r>
              <a:rPr sz="1250" b="0" i="0">
                <a:solidFill>
                  <a:srgbClr val="C5D5E0"/>
                </a:solidFill>
                <a:latin typeface="Calibri"/>
              </a:rPr>
              <a:t>The publish job declares permissions: packages: write and uses the GITHUB_TOKEN that GitHub mints for that single run — no long-lived personal access token stored in the repo. Database credentials never enter an image: they stay in a .env file on the server, and the pipeline fails outright if anyone commits one.</a:t>
            </a:r>
          </a:p>
        </p:txBody>
      </p:sp>
      <p:sp>
        <p:nvSpPr>
          <p:cNvPr id="16" name="TextBox 15"/>
          <p:cNvSpPr txBox="1"/>
          <p:nvPr/>
        </p:nvSpPr>
        <p:spPr>
          <a:xfrm>
            <a:off x="640080" y="6382512"/>
            <a:ext cx="10911535" cy="256032"/>
          </a:xfrm>
          <a:prstGeom prst="rect">
            <a:avLst/>
          </a:prstGeom>
          <a:noFill/>
        </p:spPr>
        <p:txBody>
          <a:bodyPr wrap="square" lIns="0" rIns="0" tIns="0" bIns="0">
            <a:spAutoFit/>
          </a:bodyPr>
          <a:lstStyle/>
          <a:p>
            <a:pPr algn="l">
              <a:spcBef>
                <a:spcPts val="0"/>
              </a:spcBef>
              <a:spcAft>
                <a:spcPts val="0"/>
              </a:spcAft>
            </a:pPr>
            <a:r>
              <a:rPr sz="1050" b="0" i="0">
                <a:solidFill>
                  <a:srgbClr val="8CA3B8"/>
                </a:solidFill>
                <a:latin typeface="Calibri"/>
              </a:rPr>
              <a:t>docs/CICD.md §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5486400" cy="219456"/>
          </a:xfrm>
          <a:prstGeom prst="rect">
            <a:avLst/>
          </a:prstGeom>
          <a:noFill/>
        </p:spPr>
        <p:txBody>
          <a:bodyPr wrap="square" lIns="0" rIns="0" tIns="0" bIns="0">
            <a:spAutoFit/>
          </a:bodyPr>
          <a:lstStyle/>
          <a:p>
            <a:pPr algn="l">
              <a:spcBef>
                <a:spcPts val="0"/>
              </a:spcBef>
              <a:spcAft>
                <a:spcPts val="0"/>
              </a:spcAft>
            </a:pPr>
            <a:r>
              <a:rPr sz="1100" b="1" i="0" spc="160">
                <a:solidFill>
                  <a:srgbClr val="1C7293"/>
                </a:solidFill>
                <a:latin typeface="Calibri"/>
              </a:rPr>
              <a:t>WHY TAG IMAGES WITH THE COMMIT SHA</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Bef>
                <a:spcPts val="0"/>
              </a:spcBef>
              <a:spcAft>
                <a:spcPts val="0"/>
              </a:spcAft>
            </a:pPr>
            <a:r>
              <a:rPr sz="3200" b="1" i="0">
                <a:solidFill>
                  <a:srgbClr val="065A82"/>
                </a:solidFill>
                <a:latin typeface="Cambria"/>
              </a:rPr>
              <a:t>Every commit on main is a rollback point</a:t>
            </a:r>
          </a:p>
        </p:txBody>
      </p:sp>
      <p:sp>
        <p:nvSpPr>
          <p:cNvPr id="4" name="TextBox 3"/>
          <p:cNvSpPr txBox="1"/>
          <p:nvPr/>
        </p:nvSpPr>
        <p:spPr>
          <a:xfrm>
            <a:off x="640080" y="1051560"/>
            <a:ext cx="10545775" cy="365760"/>
          </a:xfrm>
          <a:prstGeom prst="rect">
            <a:avLst/>
          </a:prstGeom>
          <a:noFill/>
        </p:spPr>
        <p:txBody>
          <a:bodyPr wrap="square" lIns="0" rIns="0" tIns="0" bIns="0">
            <a:spAutoFit/>
          </a:bodyPr>
          <a:lstStyle/>
          <a:p>
            <a:pPr algn="l">
              <a:spcBef>
                <a:spcPts val="0"/>
              </a:spcBef>
              <a:spcAft>
                <a:spcPts val="0"/>
              </a:spcAft>
            </a:pPr>
            <a:r>
              <a:rPr sz="1450" b="0" i="0">
                <a:solidFill>
                  <a:srgbClr val="5C6B7A"/>
                </a:solidFill>
                <a:latin typeface="Calibri"/>
              </a:rPr>
              <a:t>An immutable tag turns “undo the release” into one command.</a:t>
            </a:r>
          </a:p>
        </p:txBody>
      </p:sp>
      <p:sp>
        <p:nvSpPr>
          <p:cNvPr id="5" name="Rounded Rectangle 4"/>
          <p:cNvSpPr/>
          <p:nvPr/>
        </p:nvSpPr>
        <p:spPr>
          <a:xfrm>
            <a:off x="640080" y="2121408"/>
            <a:ext cx="5303520" cy="1874519"/>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800"/>
              </a:spcAft>
            </a:pPr>
            <a:r>
              <a:rPr sz="1550" b="1" i="0">
                <a:solidFill>
                  <a:srgbClr val="065A82"/>
                </a:solidFill>
                <a:latin typeface="Cambria"/>
              </a:rPr>
              <a:t>Two tags, two purposes</a:t>
            </a:r>
          </a:p>
          <a:p>
            <a:pPr algn="l" marL="200025" indent="-200025">
              <a:lnSpc>
                <a:spcPct val="112000"/>
              </a:lnSpc>
              <a:spcBef>
                <a:spcPts val="0"/>
              </a:spcBef>
              <a:spcAft>
                <a:spcPts val="600"/>
              </a:spcAft>
              <a:buChar char="•"/>
            </a:pPr>
            <a:r>
              <a:rPr sz="1250" b="0" i="0">
                <a:solidFill>
                  <a:srgbClr val="1B2233"/>
                </a:solidFill>
                <a:latin typeface="Calibri"/>
              </a:rPr>
              <a:t>:&lt;commit-sha&gt; — immutable. Points at one exact build, forever.</a:t>
            </a:r>
          </a:p>
          <a:p>
            <a:pPr algn="l" marL="200025" indent="-200025">
              <a:lnSpc>
                <a:spcPct val="112000"/>
              </a:lnSpc>
              <a:spcBef>
                <a:spcPts val="0"/>
              </a:spcBef>
              <a:spcAft>
                <a:spcPts val="600"/>
              </a:spcAft>
              <a:buChar char="•"/>
            </a:pPr>
            <a:r>
              <a:rPr sz="1250" b="0" i="0">
                <a:solidFill>
                  <a:srgbClr val="1B2233"/>
                </a:solidFill>
                <a:latin typeface="Calibri"/>
              </a:rPr>
              <a:t>:latest — a moving pointer to the newest build, for convenience.</a:t>
            </a:r>
          </a:p>
          <a:p>
            <a:pPr algn="l" marL="200025" indent="-200025">
              <a:lnSpc>
                <a:spcPct val="112000"/>
              </a:lnSpc>
              <a:spcBef>
                <a:spcPts val="0"/>
              </a:spcBef>
              <a:spcAft>
                <a:spcPts val="600"/>
              </a:spcAft>
              <a:buChar char="•"/>
            </a:pPr>
            <a:r>
              <a:rPr sz="1250" b="0" i="0">
                <a:solidFill>
                  <a:srgbClr val="1B2233"/>
                </a:solidFill>
                <a:latin typeface="Calibri"/>
              </a:rPr>
              <a:t>docker-compose.prod.yml takes IMAGE_TAG, so the server runs whichever build you name.</a:t>
            </a:r>
          </a:p>
        </p:txBody>
      </p:sp>
      <p:sp>
        <p:nvSpPr>
          <p:cNvPr id="6" name="Rounded Rectangle 5"/>
          <p:cNvSpPr/>
          <p:nvPr/>
        </p:nvSpPr>
        <p:spPr>
          <a:xfrm>
            <a:off x="6245352" y="2121408"/>
            <a:ext cx="5303520" cy="1874519"/>
          </a:xfrm>
          <a:prstGeom prst="roundRect">
            <a:avLst>
              <a:gd name="adj" fmla="val 4000"/>
            </a:avLst>
          </a:prstGeom>
          <a:solidFill>
            <a:srgbClr val="18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lnSpc>
                <a:spcPct val="105000"/>
              </a:lnSpc>
              <a:spcBef>
                <a:spcPts val="0"/>
              </a:spcBef>
              <a:spcAft>
                <a:spcPts val="200"/>
              </a:spcAft>
            </a:pPr>
            <a:r>
              <a:rPr sz="1250" b="0" i="0">
                <a:solidFill>
                  <a:srgbClr val="B8F0E0"/>
                </a:solidFill>
                <a:latin typeface="Consolas"/>
              </a:rPr>
              <a:t># roll back to any earlier build</a:t>
            </a:r>
          </a:p>
          <a:p>
            <a:pPr algn="l">
              <a:lnSpc>
                <a:spcPct val="105000"/>
              </a:lnSpc>
              <a:spcBef>
                <a:spcPts val="0"/>
              </a:spcBef>
              <a:spcAft>
                <a:spcPts val="200"/>
              </a:spcAft>
            </a:pPr>
            <a:r>
              <a:rPr sz="1250" b="0" i="0">
                <a:solidFill>
                  <a:srgbClr val="B8F0E0"/>
                </a:solidFill>
                <a:latin typeface="Consolas"/>
              </a:rPr>
              <a:t>IMAGE_TAG=&lt;older-sha&gt; \</a:t>
            </a:r>
          </a:p>
          <a:p>
            <a:pPr algn="l">
              <a:lnSpc>
                <a:spcPct val="105000"/>
              </a:lnSpc>
              <a:spcBef>
                <a:spcPts val="0"/>
              </a:spcBef>
              <a:spcAft>
                <a:spcPts val="200"/>
              </a:spcAft>
            </a:pPr>
            <a:r>
              <a:rPr sz="1250" b="0" i="0">
                <a:solidFill>
                  <a:srgbClr val="B8F0E0"/>
                </a:solidFill>
                <a:latin typeface="Consolas"/>
              </a:rPr>
              <a:t>  docker compose -f docker-compose.prod.yml \</a:t>
            </a:r>
          </a:p>
          <a:p>
            <a:pPr algn="l">
              <a:lnSpc>
                <a:spcPct val="105000"/>
              </a:lnSpc>
              <a:spcBef>
                <a:spcPts val="0"/>
              </a:spcBef>
              <a:spcAft>
                <a:spcPts val="200"/>
              </a:spcAft>
            </a:pPr>
            <a:r>
              <a:rPr sz="1250" b="0" i="0">
                <a:solidFill>
                  <a:srgbClr val="B8F0E0"/>
                </a:solidFill>
                <a:latin typeface="Consolas"/>
              </a:rPr>
              <a:t>  up -d</a:t>
            </a:r>
          </a:p>
        </p:txBody>
      </p:sp>
      <p:sp>
        <p:nvSpPr>
          <p:cNvPr id="7" name="Rounded Rectangle 6"/>
          <p:cNvSpPr/>
          <p:nvPr/>
        </p:nvSpPr>
        <p:spPr>
          <a:xfrm>
            <a:off x="640080" y="4187952"/>
            <a:ext cx="5303520" cy="1920240"/>
          </a:xfrm>
          <a:prstGeom prst="roundRect">
            <a:avLst>
              <a:gd name="adj" fmla="val 6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700"/>
              </a:spcAft>
            </a:pPr>
            <a:r>
              <a:rPr sz="1550" b="1" i="0">
                <a:solidFill>
                  <a:srgbClr val="065A82"/>
                </a:solidFill>
                <a:latin typeface="Cambria"/>
              </a:rPr>
              <a:t>A Next.js detail I had to work around</a:t>
            </a:r>
          </a:p>
          <a:p>
            <a:pPr algn="l">
              <a:lnSpc>
                <a:spcPct val="114000"/>
              </a:lnSpc>
              <a:spcBef>
                <a:spcPts val="0"/>
              </a:spcBef>
              <a:spcAft>
                <a:spcPts val="0"/>
              </a:spcAft>
            </a:pPr>
            <a:r>
              <a:rPr sz="1250" b="0" i="0">
                <a:solidFill>
                  <a:srgbClr val="1B2233"/>
                </a:solidFill>
                <a:latin typeface="Calibri"/>
              </a:rPr>
              <a:t>NEXT_PUBLIC_* values are compiled into the JavaScript bundle at build time, not read at runtime. So the API URL cannot be a container environment variable — it is a Docker build-arg, fed from a repository variable in the workflow.</a:t>
            </a:r>
          </a:p>
        </p:txBody>
      </p:sp>
      <p:sp>
        <p:nvSpPr>
          <p:cNvPr id="8" name="Rounded Rectangle 7"/>
          <p:cNvSpPr/>
          <p:nvPr/>
        </p:nvSpPr>
        <p:spPr>
          <a:xfrm>
            <a:off x="6245352" y="4187952"/>
            <a:ext cx="5303520" cy="1920240"/>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700"/>
              </a:spcAft>
            </a:pPr>
            <a:r>
              <a:rPr sz="1550" b="1" i="0">
                <a:solidFill>
                  <a:srgbClr val="FFFFFF"/>
                </a:solidFill>
                <a:latin typeface="Cambria"/>
              </a:rPr>
              <a:t>Plus: automated dependency updates</a:t>
            </a:r>
          </a:p>
          <a:p>
            <a:pPr algn="l">
              <a:lnSpc>
                <a:spcPct val="114000"/>
              </a:lnSpc>
              <a:spcBef>
                <a:spcPts val="0"/>
              </a:spcBef>
              <a:spcAft>
                <a:spcPts val="0"/>
              </a:spcAft>
            </a:pPr>
            <a:r>
              <a:rPr sz="1250" b="0" i="0">
                <a:solidFill>
                  <a:srgbClr val="C5D5E0"/>
                </a:solidFill>
                <a:latin typeface="Calibri"/>
              </a:rPr>
              <a:t>dependabot.yml opens weekly pull requests for outdated npm packages and monthly ones for outdated GitHub Actions. Each of those PRs is tested by CI automatically — so upgrades arrive already proven green.</a:t>
            </a:r>
          </a:p>
        </p:txBody>
      </p:sp>
      <p:sp>
        <p:nvSpPr>
          <p:cNvPr id="9" name="TextBox 8"/>
          <p:cNvSpPr txBox="1"/>
          <p:nvPr/>
        </p:nvSpPr>
        <p:spPr>
          <a:xfrm>
            <a:off x="640080" y="6382512"/>
            <a:ext cx="10911535" cy="256032"/>
          </a:xfrm>
          <a:prstGeom prst="rect">
            <a:avLst/>
          </a:prstGeom>
          <a:noFill/>
        </p:spPr>
        <p:txBody>
          <a:bodyPr wrap="square" lIns="0" rIns="0" tIns="0" bIns="0">
            <a:spAutoFit/>
          </a:bodyPr>
          <a:lstStyle/>
          <a:p>
            <a:pPr algn="l">
              <a:spcBef>
                <a:spcPts val="0"/>
              </a:spcBef>
              <a:spcAft>
                <a:spcPts val="0"/>
              </a:spcAft>
            </a:pPr>
            <a:r>
              <a:rPr sz="1050" b="0" i="0">
                <a:solidFill>
                  <a:srgbClr val="5C6B7A"/>
                </a:solidFill>
                <a:latin typeface="Calibri"/>
              </a:rPr>
              <a:t>docker-compose.prod.yml  ·  .github/dependabot.yml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5486400" cy="219456"/>
          </a:xfrm>
          <a:prstGeom prst="rect">
            <a:avLst/>
          </a:prstGeom>
          <a:noFill/>
        </p:spPr>
        <p:txBody>
          <a:bodyPr wrap="square" lIns="0" rIns="0" tIns="0" bIns="0">
            <a:spAutoFit/>
          </a:bodyPr>
          <a:lstStyle/>
          <a:p>
            <a:pPr algn="l">
              <a:spcBef>
                <a:spcPts val="0"/>
              </a:spcBef>
              <a:spcAft>
                <a:spcPts val="0"/>
              </a:spcAft>
            </a:pPr>
            <a:r>
              <a:rPr sz="1100" b="1" i="0" spc="160">
                <a:solidFill>
                  <a:srgbClr val="1C7293"/>
                </a:solidFill>
                <a:latin typeface="Calibri"/>
              </a:rPr>
              <a:t>THE DISTINCTION TO GET RIGHT</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Bef>
                <a:spcPts val="0"/>
              </a:spcBef>
              <a:spcAft>
                <a:spcPts val="0"/>
              </a:spcAft>
            </a:pPr>
            <a:r>
              <a:rPr sz="3200" b="1" i="0">
                <a:solidFill>
                  <a:srgbClr val="065A82"/>
                </a:solidFill>
                <a:latin typeface="Cambria"/>
              </a:rPr>
              <a:t>Continuous delivery vs continuous deployment</a:t>
            </a:r>
          </a:p>
        </p:txBody>
      </p:sp>
      <p:sp>
        <p:nvSpPr>
          <p:cNvPr id="4" name="TextBox 3"/>
          <p:cNvSpPr txBox="1"/>
          <p:nvPr/>
        </p:nvSpPr>
        <p:spPr>
          <a:xfrm>
            <a:off x="640080" y="1051560"/>
            <a:ext cx="10545775" cy="365760"/>
          </a:xfrm>
          <a:prstGeom prst="rect">
            <a:avLst/>
          </a:prstGeom>
          <a:noFill/>
        </p:spPr>
        <p:txBody>
          <a:bodyPr wrap="square" lIns="0" rIns="0" tIns="0" bIns="0">
            <a:spAutoFit/>
          </a:bodyPr>
          <a:lstStyle/>
          <a:p>
            <a:pPr algn="l">
              <a:spcBef>
                <a:spcPts val="0"/>
              </a:spcBef>
              <a:spcAft>
                <a:spcPts val="0"/>
              </a:spcAft>
            </a:pPr>
            <a:r>
              <a:rPr sz="1450" b="0" i="0">
                <a:solidFill>
                  <a:srgbClr val="5C6B7A"/>
                </a:solidFill>
                <a:latin typeface="Calibri"/>
              </a:rPr>
              <a:t>Our pipeline is delivery: always release-ready, released on approval.</a:t>
            </a:r>
          </a:p>
        </p:txBody>
      </p:sp>
      <p:sp>
        <p:nvSpPr>
          <p:cNvPr id="5" name="Rounded Rectangle 4"/>
          <p:cNvSpPr/>
          <p:nvPr/>
        </p:nvSpPr>
        <p:spPr>
          <a:xfrm>
            <a:off x="640080" y="2148840"/>
            <a:ext cx="5303520" cy="260604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400"/>
              </a:spcAft>
            </a:pPr>
            <a:r>
              <a:rPr sz="1700" b="1" i="0">
                <a:solidFill>
                  <a:srgbClr val="065A82"/>
                </a:solidFill>
                <a:latin typeface="Cambria"/>
              </a:rPr>
              <a:t>Continuous DELIVERY</a:t>
            </a:r>
          </a:p>
          <a:p>
            <a:pPr algn="l">
              <a:spcBef>
                <a:spcPts val="0"/>
              </a:spcBef>
              <a:spcAft>
                <a:spcPts val="900"/>
              </a:spcAft>
            </a:pPr>
            <a:r>
              <a:rPr sz="1200" b="0" i="1">
                <a:solidFill>
                  <a:srgbClr val="1C7293"/>
                </a:solidFill>
                <a:latin typeface="Calibri"/>
              </a:rPr>
              <a:t>what NextStep does today</a:t>
            </a:r>
          </a:p>
          <a:p>
            <a:pPr algn="l" marL="200025" indent="-200025">
              <a:lnSpc>
                <a:spcPct val="112000"/>
              </a:lnSpc>
              <a:spcBef>
                <a:spcPts val="0"/>
              </a:spcBef>
              <a:spcAft>
                <a:spcPts val="600"/>
              </a:spcAft>
              <a:buChar char="•"/>
            </a:pPr>
            <a:r>
              <a:rPr sz="1300" b="0" i="0">
                <a:solidFill>
                  <a:srgbClr val="1B2233"/>
                </a:solidFill>
                <a:latin typeface="Calibri"/>
              </a:rPr>
              <a:t>Every merge is automatically tested, built and published</a:t>
            </a:r>
          </a:p>
          <a:p>
            <a:pPr algn="l" marL="200025" indent="-200025">
              <a:lnSpc>
                <a:spcPct val="112000"/>
              </a:lnSpc>
              <a:spcBef>
                <a:spcPts val="0"/>
              </a:spcBef>
              <a:spcAft>
                <a:spcPts val="600"/>
              </a:spcAft>
              <a:buChar char="•"/>
            </a:pPr>
            <a:r>
              <a:rPr sz="1300" b="0" i="0">
                <a:solidFill>
                  <a:srgbClr val="1B2233"/>
                </a:solidFill>
                <a:latin typeface="Calibri"/>
              </a:rPr>
              <a:t>A deployable artifact exists for every commit on main</a:t>
            </a:r>
          </a:p>
          <a:p>
            <a:pPr algn="l" marL="200025" indent="-200025">
              <a:lnSpc>
                <a:spcPct val="112000"/>
              </a:lnSpc>
              <a:spcBef>
                <a:spcPts val="0"/>
              </a:spcBef>
              <a:spcAft>
                <a:spcPts val="600"/>
              </a:spcAft>
              <a:buChar char="•"/>
            </a:pPr>
            <a:r>
              <a:rPr sz="1300" b="0" i="0">
                <a:solidFill>
                  <a:srgbClr val="1B2233"/>
                </a:solidFill>
                <a:latin typeface="Calibri"/>
              </a:rPr>
              <a:t>Going live is one deliberate click by a human</a:t>
            </a:r>
          </a:p>
          <a:p>
            <a:pPr algn="l" marL="200025" indent="-200025">
              <a:lnSpc>
                <a:spcPct val="112000"/>
              </a:lnSpc>
              <a:spcBef>
                <a:spcPts val="0"/>
              </a:spcBef>
              <a:spcAft>
                <a:spcPts val="600"/>
              </a:spcAft>
              <a:buChar char="•"/>
            </a:pPr>
            <a:r>
              <a:rPr sz="1300" b="0" i="0">
                <a:solidFill>
                  <a:srgbClr val="1B2233"/>
                </a:solidFill>
                <a:latin typeface="Calibri"/>
              </a:rPr>
              <a:t>Configured with a GitHub Environment + required reviewer</a:t>
            </a:r>
          </a:p>
        </p:txBody>
      </p:sp>
      <p:sp>
        <p:nvSpPr>
          <p:cNvPr id="6" name="Rounded Rectangle 5"/>
          <p:cNvSpPr/>
          <p:nvPr/>
        </p:nvSpPr>
        <p:spPr>
          <a:xfrm>
            <a:off x="6245352" y="2148840"/>
            <a:ext cx="5303520" cy="2606040"/>
          </a:xfrm>
          <a:prstGeom prst="roundRect">
            <a:avLst>
              <a:gd name="adj" fmla="val 6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400"/>
              </a:spcAft>
            </a:pPr>
            <a:r>
              <a:rPr sz="1700" b="1" i="0">
                <a:solidFill>
                  <a:srgbClr val="5C6B7A"/>
                </a:solidFill>
                <a:latin typeface="Cambria"/>
              </a:rPr>
              <a:t>Continuous DEPLOYMENT</a:t>
            </a:r>
          </a:p>
          <a:p>
            <a:pPr algn="l">
              <a:spcBef>
                <a:spcPts val="0"/>
              </a:spcBef>
              <a:spcAft>
                <a:spcPts val="900"/>
              </a:spcAft>
            </a:pPr>
            <a:r>
              <a:rPr sz="1200" b="0" i="1">
                <a:solidFill>
                  <a:srgbClr val="5C6B7A"/>
                </a:solidFill>
                <a:latin typeface="Calibri"/>
              </a:rPr>
              <a:t>the next step, once we trust the tests</a:t>
            </a:r>
          </a:p>
          <a:p>
            <a:pPr algn="l" marL="200025" indent="-200025">
              <a:lnSpc>
                <a:spcPct val="112000"/>
              </a:lnSpc>
              <a:spcBef>
                <a:spcPts val="0"/>
              </a:spcBef>
              <a:spcAft>
                <a:spcPts val="600"/>
              </a:spcAft>
              <a:buChar char="•"/>
            </a:pPr>
            <a:r>
              <a:rPr sz="1300" b="0" i="0">
                <a:solidFill>
                  <a:srgbClr val="1B2233"/>
                </a:solidFill>
                <a:latin typeface="Calibri"/>
              </a:rPr>
              <a:t>Identical pipeline — the approval gate is simply removed</a:t>
            </a:r>
          </a:p>
          <a:p>
            <a:pPr algn="l" marL="200025" indent="-200025">
              <a:lnSpc>
                <a:spcPct val="112000"/>
              </a:lnSpc>
              <a:spcBef>
                <a:spcPts val="0"/>
              </a:spcBef>
              <a:spcAft>
                <a:spcPts val="600"/>
              </a:spcAft>
              <a:buChar char="•"/>
            </a:pPr>
            <a:r>
              <a:rPr sz="1300" b="0" i="0">
                <a:solidFill>
                  <a:srgbClr val="1B2233"/>
                </a:solidFill>
                <a:latin typeface="Calibri"/>
              </a:rPr>
              <a:t>A merge reaches real users within minutes, unattended</a:t>
            </a:r>
          </a:p>
          <a:p>
            <a:pPr algn="l" marL="200025" indent="-200025">
              <a:lnSpc>
                <a:spcPct val="112000"/>
              </a:lnSpc>
              <a:spcBef>
                <a:spcPts val="0"/>
              </a:spcBef>
              <a:spcAft>
                <a:spcPts val="600"/>
              </a:spcAft>
              <a:buChar char="•"/>
            </a:pPr>
            <a:r>
              <a:rPr sz="1300" b="0" i="0">
                <a:solidFill>
                  <a:srgbClr val="1B2233"/>
                </a:solidFill>
                <a:latin typeface="Calibri"/>
              </a:rPr>
              <a:t>Only safe when test coverage and monitoring are strong</a:t>
            </a:r>
          </a:p>
          <a:p>
            <a:pPr algn="l" marL="200025" indent="-200025">
              <a:lnSpc>
                <a:spcPct val="112000"/>
              </a:lnSpc>
              <a:spcBef>
                <a:spcPts val="0"/>
              </a:spcBef>
              <a:spcAft>
                <a:spcPts val="600"/>
              </a:spcAft>
              <a:buChar char="•"/>
            </a:pPr>
            <a:r>
              <a:rPr sz="1300" b="0" i="0">
                <a:solidFill>
                  <a:srgbClr val="1B2233"/>
                </a:solidFill>
                <a:latin typeface="Calibri"/>
              </a:rPr>
              <a:t>Frontend has no ESLint config and no component tests yet</a:t>
            </a:r>
          </a:p>
        </p:txBody>
      </p:sp>
      <p:sp>
        <p:nvSpPr>
          <p:cNvPr id="7" name="Rounded Rectangle 6"/>
          <p:cNvSpPr/>
          <p:nvPr/>
        </p:nvSpPr>
        <p:spPr>
          <a:xfrm>
            <a:off x="640080" y="4956048"/>
            <a:ext cx="10911535" cy="1143000"/>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500"/>
              </a:spcAft>
            </a:pPr>
            <a:r>
              <a:rPr sz="1450" b="1" i="0">
                <a:solidFill>
                  <a:srgbClr val="02C39A"/>
                </a:solidFill>
                <a:latin typeface="Cambria"/>
              </a:rPr>
              <a:t>So the honest one-line answer</a:t>
            </a:r>
          </a:p>
          <a:p>
            <a:pPr algn="l">
              <a:lnSpc>
                <a:spcPct val="114000"/>
              </a:lnSpc>
              <a:spcBef>
                <a:spcPts val="0"/>
              </a:spcBef>
              <a:spcAft>
                <a:spcPts val="0"/>
              </a:spcAft>
            </a:pPr>
            <a:r>
              <a:rPr sz="1350" b="0" i="0">
                <a:solidFill>
                  <a:srgbClr val="FFFFFF"/>
                </a:solidFill>
                <a:latin typeface="Calibri"/>
              </a:rPr>
              <a:t>“We have continuous integration and continuous delivery running. Continuous deployment is deliberately switched off behind an approval gate until the test suite covers the frontend too.”</a:t>
            </a:r>
          </a:p>
        </p:txBody>
      </p:sp>
      <p:sp>
        <p:nvSpPr>
          <p:cNvPr id="8" name="TextBox 7"/>
          <p:cNvSpPr txBox="1"/>
          <p:nvPr/>
        </p:nvSpPr>
        <p:spPr>
          <a:xfrm>
            <a:off x="640080" y="6382512"/>
            <a:ext cx="10911535" cy="256032"/>
          </a:xfrm>
          <a:prstGeom prst="rect">
            <a:avLst/>
          </a:prstGeom>
          <a:noFill/>
        </p:spPr>
        <p:txBody>
          <a:bodyPr wrap="square" lIns="0" rIns="0" tIns="0" bIns="0">
            <a:spAutoFit/>
          </a:bodyPr>
          <a:lstStyle/>
          <a:p>
            <a:pPr algn="l">
              <a:spcBef>
                <a:spcPts val="0"/>
              </a:spcBef>
              <a:spcAft>
                <a:spcPts val="0"/>
              </a:spcAft>
            </a:pPr>
            <a:r>
              <a:rPr sz="1050" b="0" i="0">
                <a:solidFill>
                  <a:srgbClr val="5C6B7A"/>
                </a:solidFill>
                <a:latin typeface="Calibri"/>
              </a:rPr>
              <a:t>docs/CICD.md §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5486400" cy="219456"/>
          </a:xfrm>
          <a:prstGeom prst="rect">
            <a:avLst/>
          </a:prstGeom>
          <a:noFill/>
        </p:spPr>
        <p:txBody>
          <a:bodyPr wrap="square" lIns="0" rIns="0" tIns="0" bIns="0">
            <a:spAutoFit/>
          </a:bodyPr>
          <a:lstStyle/>
          <a:p>
            <a:pPr algn="l">
              <a:spcBef>
                <a:spcPts val="0"/>
              </a:spcBef>
              <a:spcAft>
                <a:spcPts val="0"/>
              </a:spcAft>
            </a:pPr>
            <a:r>
              <a:rPr sz="1100" b="1" i="0" spc="160">
                <a:solidFill>
                  <a:srgbClr val="1C7293"/>
                </a:solidFill>
                <a:latin typeface="Calibri"/>
              </a:rPr>
              <a:t>IMPACT ON HOW THE TEAM WORKS</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Bef>
                <a:spcPts val="0"/>
              </a:spcBef>
              <a:spcAft>
                <a:spcPts val="0"/>
              </a:spcAft>
            </a:pPr>
            <a:r>
              <a:rPr sz="3200" b="1" i="0">
                <a:solidFill>
                  <a:srgbClr val="065A82"/>
                </a:solidFill>
                <a:latin typeface="Cambria"/>
              </a:rPr>
              <a:t>What actually changed</a:t>
            </a:r>
          </a:p>
        </p:txBody>
      </p:sp>
      <p:sp>
        <p:nvSpPr>
          <p:cNvPr id="4" name="TextBox 3"/>
          <p:cNvSpPr txBox="1"/>
          <p:nvPr/>
        </p:nvSpPr>
        <p:spPr>
          <a:xfrm>
            <a:off x="640080" y="1051560"/>
            <a:ext cx="10545775" cy="365760"/>
          </a:xfrm>
          <a:prstGeom prst="rect">
            <a:avLst/>
          </a:prstGeom>
          <a:noFill/>
        </p:spPr>
        <p:txBody>
          <a:bodyPr wrap="square" lIns="0" rIns="0" tIns="0" bIns="0">
            <a:spAutoFit/>
          </a:bodyPr>
          <a:lstStyle/>
          <a:p>
            <a:pPr algn="l">
              <a:spcBef>
                <a:spcPts val="0"/>
              </a:spcBef>
              <a:spcAft>
                <a:spcPts val="0"/>
              </a:spcAft>
            </a:pPr>
            <a:r>
              <a:rPr sz="1450" b="0" i="0">
                <a:solidFill>
                  <a:srgbClr val="5C6B7A"/>
                </a:solidFill>
                <a:latin typeface="Calibri"/>
              </a:rPr>
              <a:t>Same project, same people — different guarantees.</a:t>
            </a:r>
          </a:p>
        </p:txBody>
      </p:sp>
      <p:sp>
        <p:nvSpPr>
          <p:cNvPr id="5" name="TextBox 4"/>
          <p:cNvSpPr txBox="1"/>
          <p:nvPr/>
        </p:nvSpPr>
        <p:spPr>
          <a:xfrm>
            <a:off x="868680" y="2121408"/>
            <a:ext cx="4937760" cy="274320"/>
          </a:xfrm>
          <a:prstGeom prst="rect">
            <a:avLst/>
          </a:prstGeom>
          <a:noFill/>
        </p:spPr>
        <p:txBody>
          <a:bodyPr wrap="square" lIns="0" rIns="0" tIns="0" bIns="0">
            <a:spAutoFit/>
          </a:bodyPr>
          <a:lstStyle/>
          <a:p>
            <a:pPr algn="l">
              <a:spcBef>
                <a:spcPts val="0"/>
              </a:spcBef>
              <a:spcAft>
                <a:spcPts val="0"/>
              </a:spcAft>
            </a:pPr>
            <a:r>
              <a:rPr sz="1200" b="1" i="0">
                <a:solidFill>
                  <a:srgbClr val="5C6B7A"/>
                </a:solidFill>
                <a:latin typeface="Calibri"/>
              </a:rPr>
              <a:t>BEFORE</a:t>
            </a:r>
          </a:p>
        </p:txBody>
      </p:sp>
      <p:sp>
        <p:nvSpPr>
          <p:cNvPr id="6" name="TextBox 5"/>
          <p:cNvSpPr txBox="1"/>
          <p:nvPr/>
        </p:nvSpPr>
        <p:spPr>
          <a:xfrm>
            <a:off x="6245352" y="2121408"/>
            <a:ext cx="4937760" cy="274320"/>
          </a:xfrm>
          <a:prstGeom prst="rect">
            <a:avLst/>
          </a:prstGeom>
          <a:noFill/>
        </p:spPr>
        <p:txBody>
          <a:bodyPr wrap="square" lIns="0" rIns="0" tIns="0" bIns="0">
            <a:spAutoFit/>
          </a:bodyPr>
          <a:lstStyle/>
          <a:p>
            <a:pPr algn="l">
              <a:spcBef>
                <a:spcPts val="0"/>
              </a:spcBef>
              <a:spcAft>
                <a:spcPts val="0"/>
              </a:spcAft>
            </a:pPr>
            <a:r>
              <a:rPr sz="1200" b="1" i="0">
                <a:solidFill>
                  <a:srgbClr val="0B6B53"/>
                </a:solidFill>
                <a:latin typeface="Calibri"/>
              </a:rPr>
              <a:t>AFTER</a:t>
            </a:r>
          </a:p>
        </p:txBody>
      </p:sp>
      <p:sp>
        <p:nvSpPr>
          <p:cNvPr id="7" name="Rounded Rectangle 6"/>
          <p:cNvSpPr/>
          <p:nvPr/>
        </p:nvSpPr>
        <p:spPr>
          <a:xfrm>
            <a:off x="640080" y="2487168"/>
            <a:ext cx="5303520" cy="566928"/>
          </a:xfrm>
          <a:prstGeom prst="roundRect">
            <a:avLst>
              <a:gd name="adj" fmla="val 12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lnSpc>
                <a:spcPct val="100000"/>
              </a:lnSpc>
              <a:spcBef>
                <a:spcPts val="0"/>
              </a:spcBef>
              <a:spcAft>
                <a:spcPts val="0"/>
              </a:spcAft>
            </a:pPr>
            <a:r>
              <a:rPr sz="1300" b="0" i="0">
                <a:solidFill>
                  <a:srgbClr val="5C6B7A"/>
                </a:solidFill>
                <a:latin typeface="Calibri"/>
              </a:rPr>
              <a:t>“Works on my machine”</a:t>
            </a:r>
          </a:p>
        </p:txBody>
      </p:sp>
      <p:sp>
        <p:nvSpPr>
          <p:cNvPr id="8" name="Rounded Rectangle 7"/>
          <p:cNvSpPr/>
          <p:nvPr/>
        </p:nvSpPr>
        <p:spPr>
          <a:xfrm>
            <a:off x="6245352" y="2487168"/>
            <a:ext cx="5303520" cy="566928"/>
          </a:xfrm>
          <a:prstGeom prst="roundRect">
            <a:avLst>
              <a:gd name="adj" fmla="val 12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lnSpc>
                <a:spcPct val="100000"/>
              </a:lnSpc>
              <a:spcBef>
                <a:spcPts val="0"/>
              </a:spcBef>
              <a:spcAft>
                <a:spcPts val="0"/>
              </a:spcAft>
            </a:pPr>
            <a:r>
              <a:rPr sz="1300" b="1" i="0">
                <a:solidFill>
                  <a:srgbClr val="1B2233"/>
                </a:solidFill>
                <a:latin typeface="Calibri"/>
              </a:rPr>
              <a:t>Every commit verified on a clean Ubuntu runner</a:t>
            </a:r>
          </a:p>
        </p:txBody>
      </p:sp>
      <p:sp>
        <p:nvSpPr>
          <p:cNvPr id="9" name="Oval 8"/>
          <p:cNvSpPr/>
          <p:nvPr/>
        </p:nvSpPr>
        <p:spPr>
          <a:xfrm>
            <a:off x="5980176" y="2633472"/>
            <a:ext cx="274320" cy="2743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1295C"/>
                </a:solidFill>
                <a:latin typeface="Calibri"/>
              </a:rPr>
              <a:t>›</a:t>
            </a:r>
          </a:p>
        </p:txBody>
      </p:sp>
      <p:sp>
        <p:nvSpPr>
          <p:cNvPr id="10" name="Rounded Rectangle 9"/>
          <p:cNvSpPr/>
          <p:nvPr/>
        </p:nvSpPr>
        <p:spPr>
          <a:xfrm>
            <a:off x="640080" y="3127248"/>
            <a:ext cx="5303520" cy="5669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lnSpc>
                <a:spcPct val="100000"/>
              </a:lnSpc>
              <a:spcBef>
                <a:spcPts val="0"/>
              </a:spcBef>
              <a:spcAft>
                <a:spcPts val="0"/>
              </a:spcAft>
            </a:pPr>
            <a:r>
              <a:rPr sz="1300" b="0" i="0">
                <a:solidFill>
                  <a:srgbClr val="5C6B7A"/>
                </a:solidFill>
                <a:latin typeface="Calibri"/>
              </a:rPr>
              <a:t>Tests skipped — they needed a database</a:t>
            </a:r>
          </a:p>
        </p:txBody>
      </p:sp>
      <p:sp>
        <p:nvSpPr>
          <p:cNvPr id="11" name="Rounded Rectangle 10"/>
          <p:cNvSpPr/>
          <p:nvPr/>
        </p:nvSpPr>
        <p:spPr>
          <a:xfrm>
            <a:off x="6245352" y="3127248"/>
            <a:ext cx="5303520" cy="5669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lnSpc>
                <a:spcPct val="100000"/>
              </a:lnSpc>
              <a:spcBef>
                <a:spcPts val="0"/>
              </a:spcBef>
              <a:spcAft>
                <a:spcPts val="0"/>
              </a:spcAft>
            </a:pPr>
            <a:r>
              <a:rPr sz="1300" b="1" i="0">
                <a:solidFill>
                  <a:srgbClr val="1B2233"/>
                </a:solidFill>
                <a:latin typeface="Calibri"/>
              </a:rPr>
              <a:t>CI provisions a seeded PostgreSQL automatically</a:t>
            </a:r>
          </a:p>
        </p:txBody>
      </p:sp>
      <p:sp>
        <p:nvSpPr>
          <p:cNvPr id="12" name="Oval 11"/>
          <p:cNvSpPr/>
          <p:nvPr/>
        </p:nvSpPr>
        <p:spPr>
          <a:xfrm>
            <a:off x="5980176" y="3273552"/>
            <a:ext cx="274320" cy="2743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1295C"/>
                </a:solidFill>
                <a:latin typeface="Calibri"/>
              </a:rPr>
              <a:t>›</a:t>
            </a:r>
          </a:p>
        </p:txBody>
      </p:sp>
      <p:sp>
        <p:nvSpPr>
          <p:cNvPr id="13" name="Rounded Rectangle 12"/>
          <p:cNvSpPr/>
          <p:nvPr/>
        </p:nvSpPr>
        <p:spPr>
          <a:xfrm>
            <a:off x="640080" y="3767328"/>
            <a:ext cx="5303520" cy="566928"/>
          </a:xfrm>
          <a:prstGeom prst="roundRect">
            <a:avLst>
              <a:gd name="adj" fmla="val 12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lnSpc>
                <a:spcPct val="100000"/>
              </a:lnSpc>
              <a:spcBef>
                <a:spcPts val="0"/>
              </a:spcBef>
              <a:spcAft>
                <a:spcPts val="0"/>
              </a:spcAft>
            </a:pPr>
            <a:r>
              <a:rPr sz="1300" b="0" i="0">
                <a:solidFill>
                  <a:srgbClr val="5C6B7A"/>
                </a:solidFill>
                <a:latin typeface="Calibri"/>
              </a:rPr>
              <a:t>Broken main discovered at demo time</a:t>
            </a:r>
          </a:p>
        </p:txBody>
      </p:sp>
      <p:sp>
        <p:nvSpPr>
          <p:cNvPr id="14" name="Rounded Rectangle 13"/>
          <p:cNvSpPr/>
          <p:nvPr/>
        </p:nvSpPr>
        <p:spPr>
          <a:xfrm>
            <a:off x="6245352" y="3767328"/>
            <a:ext cx="5303520" cy="566928"/>
          </a:xfrm>
          <a:prstGeom prst="roundRect">
            <a:avLst>
              <a:gd name="adj" fmla="val 12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lnSpc>
                <a:spcPct val="100000"/>
              </a:lnSpc>
              <a:spcBef>
                <a:spcPts val="0"/>
              </a:spcBef>
              <a:spcAft>
                <a:spcPts val="0"/>
              </a:spcAft>
            </a:pPr>
            <a:r>
              <a:rPr sz="1300" b="1" i="0">
                <a:solidFill>
                  <a:srgbClr val="1B2233"/>
                </a:solidFill>
                <a:latin typeface="Calibri"/>
              </a:rPr>
              <a:t>The pull request goes red before it can be merged</a:t>
            </a:r>
          </a:p>
        </p:txBody>
      </p:sp>
      <p:sp>
        <p:nvSpPr>
          <p:cNvPr id="15" name="Oval 14"/>
          <p:cNvSpPr/>
          <p:nvPr/>
        </p:nvSpPr>
        <p:spPr>
          <a:xfrm>
            <a:off x="5980176" y="3913632"/>
            <a:ext cx="274320" cy="2743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1295C"/>
                </a:solidFill>
                <a:latin typeface="Calibri"/>
              </a:rPr>
              <a:t>›</a:t>
            </a:r>
          </a:p>
        </p:txBody>
      </p:sp>
      <p:sp>
        <p:nvSpPr>
          <p:cNvPr id="16" name="Rounded Rectangle 15"/>
          <p:cNvSpPr/>
          <p:nvPr/>
        </p:nvSpPr>
        <p:spPr>
          <a:xfrm>
            <a:off x="640080" y="4407408"/>
            <a:ext cx="5303520" cy="5669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lnSpc>
                <a:spcPct val="100000"/>
              </a:lnSpc>
              <a:spcBef>
                <a:spcPts val="0"/>
              </a:spcBef>
              <a:spcAft>
                <a:spcPts val="0"/>
              </a:spcAft>
            </a:pPr>
            <a:r>
              <a:rPr sz="1300" b="0" i="0">
                <a:solidFill>
                  <a:srgbClr val="5C6B7A"/>
                </a:solidFill>
                <a:latin typeface="Calibri"/>
              </a:rPr>
              <a:t>Manual, improvised deployment</a:t>
            </a:r>
          </a:p>
        </p:txBody>
      </p:sp>
      <p:sp>
        <p:nvSpPr>
          <p:cNvPr id="17" name="Rounded Rectangle 16"/>
          <p:cNvSpPr/>
          <p:nvPr/>
        </p:nvSpPr>
        <p:spPr>
          <a:xfrm>
            <a:off x="6245352" y="4407408"/>
            <a:ext cx="5303520" cy="5669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lnSpc>
                <a:spcPct val="100000"/>
              </a:lnSpc>
              <a:spcBef>
                <a:spcPts val="0"/>
              </a:spcBef>
              <a:spcAft>
                <a:spcPts val="0"/>
              </a:spcAft>
            </a:pPr>
            <a:r>
              <a:rPr sz="1300" b="1" i="0">
                <a:solidFill>
                  <a:srgbClr val="1B2233"/>
                </a:solidFill>
                <a:latin typeface="Calibri"/>
              </a:rPr>
              <a:t>One command against an immutable image tag</a:t>
            </a:r>
          </a:p>
        </p:txBody>
      </p:sp>
      <p:sp>
        <p:nvSpPr>
          <p:cNvPr id="18" name="Oval 17"/>
          <p:cNvSpPr/>
          <p:nvPr/>
        </p:nvSpPr>
        <p:spPr>
          <a:xfrm>
            <a:off x="5980176" y="4553712"/>
            <a:ext cx="274320" cy="2743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1295C"/>
                </a:solidFill>
                <a:latin typeface="Calibri"/>
              </a:rPr>
              <a:t>›</a:t>
            </a:r>
          </a:p>
        </p:txBody>
      </p:sp>
      <p:sp>
        <p:nvSpPr>
          <p:cNvPr id="19" name="Rounded Rectangle 18"/>
          <p:cNvSpPr/>
          <p:nvPr/>
        </p:nvSpPr>
        <p:spPr>
          <a:xfrm>
            <a:off x="640080" y="5047488"/>
            <a:ext cx="5303520" cy="566928"/>
          </a:xfrm>
          <a:prstGeom prst="roundRect">
            <a:avLst>
              <a:gd name="adj" fmla="val 12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lnSpc>
                <a:spcPct val="100000"/>
              </a:lnSpc>
              <a:spcBef>
                <a:spcPts val="0"/>
              </a:spcBef>
              <a:spcAft>
                <a:spcPts val="0"/>
              </a:spcAft>
            </a:pPr>
            <a:r>
              <a:rPr sz="1300" b="0" i="0">
                <a:solidFill>
                  <a:srgbClr val="5C6B7A"/>
                </a:solidFill>
                <a:latin typeface="Calibri"/>
              </a:rPr>
              <a:t>Rollback was guesswork</a:t>
            </a:r>
          </a:p>
        </p:txBody>
      </p:sp>
      <p:sp>
        <p:nvSpPr>
          <p:cNvPr id="20" name="Rounded Rectangle 19"/>
          <p:cNvSpPr/>
          <p:nvPr/>
        </p:nvSpPr>
        <p:spPr>
          <a:xfrm>
            <a:off x="6245352" y="5047488"/>
            <a:ext cx="5303520" cy="566928"/>
          </a:xfrm>
          <a:prstGeom prst="roundRect">
            <a:avLst>
              <a:gd name="adj" fmla="val 12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lnSpc>
                <a:spcPct val="100000"/>
              </a:lnSpc>
              <a:spcBef>
                <a:spcPts val="0"/>
              </a:spcBef>
              <a:spcAft>
                <a:spcPts val="0"/>
              </a:spcAft>
            </a:pPr>
            <a:r>
              <a:rPr sz="1300" b="1" i="0">
                <a:solidFill>
                  <a:srgbClr val="1B2233"/>
                </a:solidFill>
                <a:latin typeface="Calibri"/>
              </a:rPr>
              <a:t>Rollback = redeploy an earlier commit SHA</a:t>
            </a:r>
          </a:p>
        </p:txBody>
      </p:sp>
      <p:sp>
        <p:nvSpPr>
          <p:cNvPr id="21" name="Oval 20"/>
          <p:cNvSpPr/>
          <p:nvPr/>
        </p:nvSpPr>
        <p:spPr>
          <a:xfrm>
            <a:off x="5980176" y="5193792"/>
            <a:ext cx="274320" cy="2743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1295C"/>
                </a:solidFill>
                <a:latin typeface="Calibri"/>
              </a:rPr>
              <a:t>›</a:t>
            </a:r>
          </a:p>
        </p:txBody>
      </p:sp>
      <p:sp>
        <p:nvSpPr>
          <p:cNvPr id="22" name="Rounded Rectangle 21"/>
          <p:cNvSpPr/>
          <p:nvPr/>
        </p:nvSpPr>
        <p:spPr>
          <a:xfrm>
            <a:off x="640080" y="5687568"/>
            <a:ext cx="5303520" cy="5669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lnSpc>
                <a:spcPct val="100000"/>
              </a:lnSpc>
              <a:spcBef>
                <a:spcPts val="0"/>
              </a:spcBef>
              <a:spcAft>
                <a:spcPts val="0"/>
              </a:spcAft>
            </a:pPr>
            <a:r>
              <a:rPr sz="1300" b="0" i="0">
                <a:solidFill>
                  <a:srgbClr val="5C6B7A"/>
                </a:solidFill>
                <a:latin typeface="Calibri"/>
              </a:rPr>
              <a:t>A secret could slip into a commit</a:t>
            </a:r>
          </a:p>
        </p:txBody>
      </p:sp>
      <p:sp>
        <p:nvSpPr>
          <p:cNvPr id="23" name="Rounded Rectangle 22"/>
          <p:cNvSpPr/>
          <p:nvPr/>
        </p:nvSpPr>
        <p:spPr>
          <a:xfrm>
            <a:off x="6245352" y="5687568"/>
            <a:ext cx="5303520" cy="5669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lnSpc>
                <a:spcPct val="100000"/>
              </a:lnSpc>
              <a:spcBef>
                <a:spcPts val="0"/>
              </a:spcBef>
              <a:spcAft>
                <a:spcPts val="0"/>
              </a:spcAft>
            </a:pPr>
            <a:r>
              <a:rPr sz="1300" b="1" i="0">
                <a:solidFill>
                  <a:srgbClr val="1B2233"/>
                </a:solidFill>
                <a:latin typeface="Calibri"/>
              </a:rPr>
              <a:t>The pipeline fails if a .env file is committed</a:t>
            </a:r>
          </a:p>
        </p:txBody>
      </p:sp>
      <p:sp>
        <p:nvSpPr>
          <p:cNvPr id="24" name="Oval 23"/>
          <p:cNvSpPr/>
          <p:nvPr/>
        </p:nvSpPr>
        <p:spPr>
          <a:xfrm>
            <a:off x="5980176" y="5833872"/>
            <a:ext cx="274320" cy="2743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1295C"/>
                </a:solidFill>
                <a:latin typeface="Calibri"/>
              </a:rPr>
              <a:t>›</a:t>
            </a:r>
          </a:p>
        </p:txBody>
      </p:sp>
      <p:sp>
        <p:nvSpPr>
          <p:cNvPr id="25" name="TextBox 24"/>
          <p:cNvSpPr txBox="1"/>
          <p:nvPr/>
        </p:nvSpPr>
        <p:spPr>
          <a:xfrm>
            <a:off x="640080" y="6382512"/>
            <a:ext cx="10911535" cy="256032"/>
          </a:xfrm>
          <a:prstGeom prst="rect">
            <a:avLst/>
          </a:prstGeom>
          <a:noFill/>
        </p:spPr>
        <p:txBody>
          <a:bodyPr wrap="square" lIns="0" rIns="0" tIns="0" bIns="0">
            <a:spAutoFit/>
          </a:bodyPr>
          <a:lstStyle/>
          <a:p>
            <a:pPr algn="l">
              <a:spcBef>
                <a:spcPts val="0"/>
              </a:spcBef>
              <a:spcAft>
                <a:spcPts val="0"/>
              </a:spcAft>
            </a:pPr>
            <a:r>
              <a:rPr sz="1050" b="0" i="0">
                <a:solidFill>
                  <a:srgbClr val="5C6B7A"/>
                </a:solidFill>
                <a:latin typeface="Calibri"/>
              </a:rPr>
              <a:t>Recommended next: branch protection on main, so the CI checks are enforced rather than advisory.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5486400" cy="219456"/>
          </a:xfrm>
          <a:prstGeom prst="rect">
            <a:avLst/>
          </a:prstGeom>
          <a:noFill/>
        </p:spPr>
        <p:txBody>
          <a:bodyPr wrap="square" lIns="0" rIns="0" tIns="0" bIns="0">
            <a:spAutoFit/>
          </a:bodyPr>
          <a:lstStyle/>
          <a:p>
            <a:pPr algn="l">
              <a:spcBef>
                <a:spcPts val="0"/>
              </a:spcBef>
              <a:spcAft>
                <a:spcPts val="0"/>
              </a:spcAft>
            </a:pPr>
            <a:r>
              <a:rPr sz="1100" b="1" i="0" spc="160">
                <a:solidFill>
                  <a:srgbClr val="1C7293"/>
                </a:solidFill>
                <a:latin typeface="Calibri"/>
              </a:rPr>
              <a:t>WHERE THE PROJECT STANDS TODAY</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Bef>
                <a:spcPts val="0"/>
              </a:spcBef>
              <a:spcAft>
                <a:spcPts val="0"/>
              </a:spcAft>
            </a:pPr>
            <a:r>
              <a:rPr sz="3200" b="1" i="0">
                <a:solidFill>
                  <a:srgbClr val="065A82"/>
                </a:solidFill>
                <a:latin typeface="Cambria"/>
              </a:rPr>
              <a:t>Live, and honest about what isn't</a:t>
            </a:r>
          </a:p>
        </p:txBody>
      </p:sp>
      <p:sp>
        <p:nvSpPr>
          <p:cNvPr id="4" name="TextBox 3"/>
          <p:cNvSpPr txBox="1"/>
          <p:nvPr/>
        </p:nvSpPr>
        <p:spPr>
          <a:xfrm>
            <a:off x="640080" y="1051560"/>
            <a:ext cx="10545775" cy="365760"/>
          </a:xfrm>
          <a:prstGeom prst="rect">
            <a:avLst/>
          </a:prstGeom>
          <a:noFill/>
        </p:spPr>
        <p:txBody>
          <a:bodyPr wrap="square" lIns="0" rIns="0" tIns="0" bIns="0">
            <a:spAutoFit/>
          </a:bodyPr>
          <a:lstStyle/>
          <a:p>
            <a:pPr algn="l">
              <a:spcBef>
                <a:spcPts val="0"/>
              </a:spcBef>
              <a:spcAft>
                <a:spcPts val="0"/>
              </a:spcAft>
            </a:pPr>
            <a:r>
              <a:rPr sz="1450" b="0" i="0">
                <a:solidFill>
                  <a:srgbClr val="5C6B7A"/>
                </a:solidFill>
                <a:latin typeface="Calibri"/>
              </a:rPr>
              <a:t>Two of the three CD jobs run for real on every merge to main.</a:t>
            </a:r>
          </a:p>
        </p:txBody>
      </p:sp>
      <p:sp>
        <p:nvSpPr>
          <p:cNvPr id="5" name="Rounded Rectangle 4"/>
          <p:cNvSpPr/>
          <p:nvPr/>
        </p:nvSpPr>
        <p:spPr>
          <a:xfrm>
            <a:off x="640080" y="2148840"/>
            <a:ext cx="5303520" cy="3218688"/>
          </a:xfrm>
          <a:prstGeom prst="roundRect">
            <a:avLst>
              <a:gd name="adj" fmla="val 6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900"/>
              </a:spcAft>
            </a:pPr>
            <a:r>
              <a:rPr sz="1700" b="1" i="0">
                <a:solidFill>
                  <a:srgbClr val="0B6B53"/>
                </a:solidFill>
                <a:latin typeface="Cambria"/>
              </a:rPr>
              <a:t>Working now</a:t>
            </a:r>
          </a:p>
          <a:p>
            <a:pPr algn="l" marL="200025" indent="-200025">
              <a:lnSpc>
                <a:spcPct val="110000"/>
              </a:lnSpc>
              <a:spcBef>
                <a:spcPts val="0"/>
              </a:spcBef>
              <a:spcAft>
                <a:spcPts val="600"/>
              </a:spcAft>
              <a:buChar char="•"/>
            </a:pPr>
            <a:r>
              <a:rPr sz="1250" b="0" i="0">
                <a:solidFill>
                  <a:srgbClr val="1B2233"/>
                </a:solidFill>
                <a:latin typeface="Calibri"/>
              </a:rPr>
              <a:t>CI runs on every push and pull request — 4 stages, 17 tests</a:t>
            </a:r>
          </a:p>
          <a:p>
            <a:pPr algn="l" marL="200025" indent="-200025">
              <a:lnSpc>
                <a:spcPct val="110000"/>
              </a:lnSpc>
              <a:spcBef>
                <a:spcPts val="0"/>
              </a:spcBef>
              <a:spcAft>
                <a:spcPts val="600"/>
              </a:spcAft>
              <a:buChar char="•"/>
            </a:pPr>
            <a:r>
              <a:rPr sz="1250" b="0" i="0">
                <a:solidFill>
                  <a:srgbClr val="1B2233"/>
                </a:solidFill>
                <a:latin typeface="Calibri"/>
              </a:rPr>
              <a:t>Real PostgreSQL provisioned per run; database is seeded from schema.sql</a:t>
            </a:r>
          </a:p>
          <a:p>
            <a:pPr algn="l" marL="200025" indent="-200025">
              <a:lnSpc>
                <a:spcPct val="110000"/>
              </a:lnSpc>
              <a:spcBef>
                <a:spcPts val="0"/>
              </a:spcBef>
              <a:spcAft>
                <a:spcPts val="600"/>
              </a:spcAft>
              <a:buChar char="•"/>
            </a:pPr>
            <a:r>
              <a:rPr sz="1250" b="0" i="0">
                <a:solidFill>
                  <a:srgbClr val="1B2233"/>
                </a:solidFill>
                <a:latin typeface="Calibri"/>
              </a:rPr>
              <a:t>Health-check smoke test proves the API actually boots</a:t>
            </a:r>
          </a:p>
          <a:p>
            <a:pPr algn="l" marL="200025" indent="-200025">
              <a:lnSpc>
                <a:spcPct val="110000"/>
              </a:lnSpc>
              <a:spcBef>
                <a:spcPts val="0"/>
              </a:spcBef>
              <a:spcAft>
                <a:spcPts val="600"/>
              </a:spcAft>
              <a:buChar char="•"/>
            </a:pPr>
            <a:r>
              <a:rPr sz="1250" b="0" i="0">
                <a:solidFill>
                  <a:srgbClr val="1B2233"/>
                </a:solidFill>
                <a:latin typeface="Calibri"/>
              </a:rPr>
              <a:t>Both Docker images build on every run</a:t>
            </a:r>
          </a:p>
          <a:p>
            <a:pPr algn="l" marL="200025" indent="-200025">
              <a:lnSpc>
                <a:spcPct val="110000"/>
              </a:lnSpc>
              <a:spcBef>
                <a:spcPts val="0"/>
              </a:spcBef>
              <a:spcAft>
                <a:spcPts val="600"/>
              </a:spcAft>
              <a:buChar char="•"/>
            </a:pPr>
            <a:r>
              <a:rPr sz="1250" b="0" i="0">
                <a:solidFill>
                  <a:srgbClr val="1B2233"/>
                </a:solidFill>
                <a:latin typeface="Calibri"/>
              </a:rPr>
              <a:t>On merge to main, images are published to GHCR tagged with the commit SHA</a:t>
            </a:r>
          </a:p>
          <a:p>
            <a:pPr algn="l" marL="200025" indent="-200025">
              <a:lnSpc>
                <a:spcPct val="110000"/>
              </a:lnSpc>
              <a:spcBef>
                <a:spcPts val="0"/>
              </a:spcBef>
              <a:spcAft>
                <a:spcPts val="600"/>
              </a:spcAft>
              <a:buChar char="•"/>
            </a:pPr>
            <a:r>
              <a:rPr sz="1250" b="0" i="0">
                <a:solidFill>
                  <a:srgbClr val="1B2233"/>
                </a:solidFill>
                <a:latin typeface="Calibri"/>
              </a:rPr>
              <a:t>Dependabot PRs are opened and tested automatically</a:t>
            </a:r>
          </a:p>
          <a:p>
            <a:pPr algn="l" marL="200025" indent="-200025">
              <a:lnSpc>
                <a:spcPct val="110000"/>
              </a:lnSpc>
              <a:spcBef>
                <a:spcPts val="0"/>
              </a:spcBef>
              <a:spcAft>
                <a:spcPts val="600"/>
              </a:spcAft>
              <a:buChar char="•"/>
            </a:pPr>
            <a:r>
              <a:rPr sz="1250" b="0" i="0">
                <a:solidFill>
                  <a:srgbClr val="1B2233"/>
                </a:solidFill>
                <a:latin typeface="Calibri"/>
              </a:rPr>
              <a:t>Status badges for both pipelines on the README</a:t>
            </a:r>
          </a:p>
        </p:txBody>
      </p:sp>
      <p:sp>
        <p:nvSpPr>
          <p:cNvPr id="6" name="Rounded Rectangle 5"/>
          <p:cNvSpPr/>
          <p:nvPr/>
        </p:nvSpPr>
        <p:spPr>
          <a:xfrm>
            <a:off x="6245352" y="2148840"/>
            <a:ext cx="5303520" cy="3218688"/>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spcBef>
                <a:spcPts val="0"/>
              </a:spcBef>
              <a:spcAft>
                <a:spcPts val="900"/>
              </a:spcAft>
            </a:pPr>
            <a:r>
              <a:rPr sz="1700" b="1" i="0">
                <a:solidFill>
                  <a:srgbClr val="9A630F"/>
                </a:solidFill>
                <a:latin typeface="Cambria"/>
              </a:rPr>
              <a:t>Not yet live — and why</a:t>
            </a:r>
          </a:p>
          <a:p>
            <a:pPr algn="l" marL="200025" indent="-200025">
              <a:lnSpc>
                <a:spcPct val="110000"/>
              </a:lnSpc>
              <a:spcBef>
                <a:spcPts val="0"/>
              </a:spcBef>
              <a:spcAft>
                <a:spcPts val="600"/>
              </a:spcAft>
              <a:buChar char="•"/>
            </a:pPr>
            <a:r>
              <a:rPr sz="1250" b="0" i="0">
                <a:solidFill>
                  <a:srgbClr val="1B2233"/>
                </a:solidFill>
                <a:latin typeface="Calibri"/>
              </a:rPr>
              <a:t>No hosting server is provisioned yet, so the deploy job has no target</a:t>
            </a:r>
          </a:p>
          <a:p>
            <a:pPr algn="l" marL="200025" indent="-200025">
              <a:lnSpc>
                <a:spcPct val="110000"/>
              </a:lnSpc>
              <a:spcBef>
                <a:spcPts val="0"/>
              </a:spcBef>
              <a:spcAft>
                <a:spcPts val="600"/>
              </a:spcAft>
              <a:buChar char="•"/>
            </a:pPr>
            <a:r>
              <a:rPr sz="1250" b="0" i="0">
                <a:solidFill>
                  <a:srgbClr val="1B2233"/>
                </a:solidFill>
                <a:latin typeface="Calibri"/>
              </a:rPr>
              <a:t>It detects the missing DEPLOY_HOST secret and skips with an explanation in the run summary — it does not fail the pipeline</a:t>
            </a:r>
          </a:p>
          <a:p>
            <a:pPr algn="l" marL="200025" indent="-200025">
              <a:lnSpc>
                <a:spcPct val="110000"/>
              </a:lnSpc>
              <a:spcBef>
                <a:spcPts val="0"/>
              </a:spcBef>
              <a:spcAft>
                <a:spcPts val="600"/>
              </a:spcAft>
              <a:buChar char="•"/>
            </a:pPr>
            <a:r>
              <a:rPr sz="1250" b="0" i="0">
                <a:solidFill>
                  <a:srgbClr val="1B2233"/>
                </a:solidFill>
                <a:latin typeface="Calibri"/>
              </a:rPr>
              <a:t>Adding four secrets (DEPLOY_HOST, DEPLOY_USER, DEPLOY_SSH_KEY, DEPLOY_PATH) activates it with no workflow edit</a:t>
            </a:r>
          </a:p>
          <a:p>
            <a:pPr algn="l" marL="200025" indent="-200025">
              <a:lnSpc>
                <a:spcPct val="110000"/>
              </a:lnSpc>
              <a:spcBef>
                <a:spcPts val="0"/>
              </a:spcBef>
              <a:spcAft>
                <a:spcPts val="600"/>
              </a:spcAft>
              <a:buChar char="•"/>
            </a:pPr>
            <a:r>
              <a:rPr sz="1250" b="0" i="0">
                <a:solidFill>
                  <a:srgbClr val="1B2233"/>
                </a:solidFill>
                <a:latin typeface="Calibri"/>
              </a:rPr>
              <a:t>Frontend has no ESLint config, so a lint stage is deliberately absent rather than silently passing</a:t>
            </a:r>
          </a:p>
        </p:txBody>
      </p:sp>
      <p:sp>
        <p:nvSpPr>
          <p:cNvPr id="7" name="Rounded Rectangle 6"/>
          <p:cNvSpPr/>
          <p:nvPr/>
        </p:nvSpPr>
        <p:spPr>
          <a:xfrm>
            <a:off x="640080" y="5504688"/>
            <a:ext cx="10911535" cy="640080"/>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spcBef>
                <a:spcPts val="0"/>
              </a:spcBef>
              <a:spcAft>
                <a:spcPts val="0"/>
              </a:spcAft>
            </a:pPr>
            <a:r>
              <a:rPr sz="1400" b="1" i="0">
                <a:solidFill>
                  <a:srgbClr val="FFFFFF"/>
                </a:solidFill>
                <a:latin typeface="Cambria"/>
              </a:rPr>
              <a:t>The deployment mechanism is written and reviewable — what it is waiting for is a server, not more code.</a:t>
            </a:r>
          </a:p>
        </p:txBody>
      </p:sp>
      <p:sp>
        <p:nvSpPr>
          <p:cNvPr id="8" name="TextBox 7"/>
          <p:cNvSpPr txBox="1"/>
          <p:nvPr/>
        </p:nvSpPr>
        <p:spPr>
          <a:xfrm>
            <a:off x="640080" y="6382512"/>
            <a:ext cx="10911535" cy="256032"/>
          </a:xfrm>
          <a:prstGeom prst="rect">
            <a:avLst/>
          </a:prstGeom>
          <a:noFill/>
        </p:spPr>
        <p:txBody>
          <a:bodyPr wrap="square" lIns="0" rIns="0" tIns="0" bIns="0">
            <a:spAutoFit/>
          </a:bodyPr>
          <a:lstStyle/>
          <a:p>
            <a:pPr algn="l">
              <a:spcBef>
                <a:spcPts val="0"/>
              </a:spcBef>
              <a:spcAft>
                <a:spcPts val="0"/>
              </a:spcAft>
            </a:pPr>
            <a:r>
              <a:rPr sz="1050" b="0" i="0">
                <a:solidFill>
                  <a:srgbClr val="5C6B7A"/>
                </a:solidFill>
                <a:latin typeface="Calibri"/>
              </a:rPr>
              <a:t>docs/CICD.md § 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5486400" cy="219456"/>
          </a:xfrm>
          <a:prstGeom prst="rect">
            <a:avLst/>
          </a:prstGeom>
          <a:noFill/>
        </p:spPr>
        <p:txBody>
          <a:bodyPr wrap="square" lIns="0" rIns="0" tIns="0" bIns="0">
            <a:spAutoFit/>
          </a:bodyPr>
          <a:lstStyle/>
          <a:p>
            <a:pPr algn="l">
              <a:spcBef>
                <a:spcPts val="0"/>
              </a:spcBef>
              <a:spcAft>
                <a:spcPts val="0"/>
              </a:spcAft>
            </a:pPr>
            <a:r>
              <a:rPr sz="1100" b="1" i="0" spc="160">
                <a:solidFill>
                  <a:srgbClr val="1C7293"/>
                </a:solidFill>
                <a:latin typeface="Calibri"/>
              </a:rPr>
              <a:t>ROADMAP</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Bef>
                <a:spcPts val="0"/>
              </a:spcBef>
              <a:spcAft>
                <a:spcPts val="0"/>
              </a:spcAft>
            </a:pPr>
            <a:r>
              <a:rPr sz="3200" b="1" i="0">
                <a:solidFill>
                  <a:srgbClr val="065A82"/>
                </a:solidFill>
                <a:latin typeface="Cambria"/>
              </a:rPr>
              <a:t>What I would add next, in priority order</a:t>
            </a:r>
          </a:p>
        </p:txBody>
      </p:sp>
      <p:sp>
        <p:nvSpPr>
          <p:cNvPr id="4" name="TextBox 3"/>
          <p:cNvSpPr txBox="1"/>
          <p:nvPr/>
        </p:nvSpPr>
        <p:spPr>
          <a:xfrm>
            <a:off x="640080" y="1051560"/>
            <a:ext cx="10545775" cy="365760"/>
          </a:xfrm>
          <a:prstGeom prst="rect">
            <a:avLst/>
          </a:prstGeom>
          <a:noFill/>
        </p:spPr>
        <p:txBody>
          <a:bodyPr wrap="square" lIns="0" rIns="0" tIns="0" bIns="0">
            <a:spAutoFit/>
          </a:bodyPr>
          <a:lstStyle/>
          <a:p>
            <a:pPr algn="l">
              <a:spcBef>
                <a:spcPts val="0"/>
              </a:spcBef>
              <a:spcAft>
                <a:spcPts val="0"/>
              </a:spcAft>
            </a:pPr>
            <a:r>
              <a:rPr sz="1450" b="0" i="0">
                <a:solidFill>
                  <a:srgbClr val="5C6B7A"/>
                </a:solidFill>
                <a:latin typeface="Calibri"/>
              </a:rPr>
              <a:t>Each item removes a specific gap that exists today.</a:t>
            </a:r>
          </a:p>
        </p:txBody>
      </p:sp>
      <p:sp>
        <p:nvSpPr>
          <p:cNvPr id="5" name="Rounded Rectangle 4"/>
          <p:cNvSpPr/>
          <p:nvPr/>
        </p:nvSpPr>
        <p:spPr>
          <a:xfrm>
            <a:off x="640080" y="2395728"/>
            <a:ext cx="2006742" cy="27432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lnSpc>
                <a:spcPct val="105000"/>
              </a:lnSpc>
              <a:spcBef>
                <a:spcPts val="0"/>
              </a:spcBef>
              <a:spcAft>
                <a:spcPts val="800"/>
              </a:spcAft>
            </a:pPr>
            <a:r>
              <a:rPr sz="1450" b="1" i="0">
                <a:solidFill>
                  <a:srgbClr val="065A82"/>
                </a:solidFill>
                <a:latin typeface="Cambria"/>
              </a:rPr>
              <a:t>Branch protection</a:t>
            </a:r>
          </a:p>
          <a:p>
            <a:pPr algn="l">
              <a:lnSpc>
                <a:spcPct val="114000"/>
              </a:lnSpc>
              <a:spcBef>
                <a:spcPts val="0"/>
              </a:spcBef>
              <a:spcAft>
                <a:spcPts val="0"/>
              </a:spcAft>
            </a:pPr>
            <a:r>
              <a:rPr sz="1200" b="0" i="0">
                <a:solidFill>
                  <a:srgbClr val="1B2233"/>
                </a:solidFill>
                <a:latin typeface="Calibri"/>
              </a:rPr>
              <a:t>Require the CI checks on main so the pipeline is enforced, not advisory. Zero code — a repository setting.</a:t>
            </a:r>
          </a:p>
        </p:txBody>
      </p:sp>
      <p:sp>
        <p:nvSpPr>
          <p:cNvPr id="6" name="Oval 5"/>
          <p:cNvSpPr/>
          <p:nvPr/>
        </p:nvSpPr>
        <p:spPr>
          <a:xfrm>
            <a:off x="1405707" y="2139696"/>
            <a:ext cx="475488" cy="47548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Rounded Rectangle 6"/>
          <p:cNvSpPr/>
          <p:nvPr/>
        </p:nvSpPr>
        <p:spPr>
          <a:xfrm>
            <a:off x="2866278" y="2395728"/>
            <a:ext cx="2006742" cy="2743200"/>
          </a:xfrm>
          <a:prstGeom prst="roundRect">
            <a:avLst>
              <a:gd name="adj" fmla="val 6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lnSpc>
                <a:spcPct val="105000"/>
              </a:lnSpc>
              <a:spcBef>
                <a:spcPts val="0"/>
              </a:spcBef>
              <a:spcAft>
                <a:spcPts val="800"/>
              </a:spcAft>
            </a:pPr>
            <a:r>
              <a:rPr sz="1450" b="1" i="0">
                <a:solidFill>
                  <a:srgbClr val="065A82"/>
                </a:solidFill>
                <a:latin typeface="Cambria"/>
              </a:rPr>
              <a:t>ESLint + a lint stage</a:t>
            </a:r>
          </a:p>
          <a:p>
            <a:pPr algn="l">
              <a:lnSpc>
                <a:spcPct val="114000"/>
              </a:lnSpc>
              <a:spcBef>
                <a:spcPts val="0"/>
              </a:spcBef>
              <a:spcAft>
                <a:spcPts val="0"/>
              </a:spcAft>
            </a:pPr>
            <a:r>
              <a:rPr sz="1200" b="0" i="0">
                <a:solidFill>
                  <a:srgbClr val="1B2233"/>
                </a:solidFill>
                <a:latin typeface="Calibri"/>
              </a:rPr>
              <a:t>Add an ESLint config to the frontend, then a lint job. Catches style and correctness issues before review.</a:t>
            </a:r>
          </a:p>
        </p:txBody>
      </p:sp>
      <p:sp>
        <p:nvSpPr>
          <p:cNvPr id="8" name="Oval 7"/>
          <p:cNvSpPr/>
          <p:nvPr/>
        </p:nvSpPr>
        <p:spPr>
          <a:xfrm>
            <a:off x="3631905" y="2139696"/>
            <a:ext cx="475488" cy="47548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9" name="Rounded Rectangle 8"/>
          <p:cNvSpPr/>
          <p:nvPr/>
        </p:nvSpPr>
        <p:spPr>
          <a:xfrm>
            <a:off x="5092476" y="2395728"/>
            <a:ext cx="2006742" cy="27432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lnSpc>
                <a:spcPct val="105000"/>
              </a:lnSpc>
              <a:spcBef>
                <a:spcPts val="0"/>
              </a:spcBef>
              <a:spcAft>
                <a:spcPts val="800"/>
              </a:spcAft>
            </a:pPr>
            <a:r>
              <a:rPr sz="1450" b="1" i="0">
                <a:solidFill>
                  <a:srgbClr val="065A82"/>
                </a:solidFill>
                <a:latin typeface="Cambria"/>
              </a:rPr>
              <a:t>Frontend tests</a:t>
            </a:r>
          </a:p>
          <a:p>
            <a:pPr algn="l">
              <a:lnSpc>
                <a:spcPct val="114000"/>
              </a:lnSpc>
              <a:spcBef>
                <a:spcPts val="0"/>
              </a:spcBef>
              <a:spcAft>
                <a:spcPts val="0"/>
              </a:spcAft>
            </a:pPr>
            <a:r>
              <a:rPr sz="1200" b="0" i="0">
                <a:solidFill>
                  <a:srgbClr val="1B2233"/>
                </a:solidFill>
                <a:latin typeface="Calibri"/>
              </a:rPr>
              <a:t>React Testing Library component tests plus coverage reporting, so the frontend is gated like the backend.</a:t>
            </a:r>
          </a:p>
        </p:txBody>
      </p:sp>
      <p:sp>
        <p:nvSpPr>
          <p:cNvPr id="10" name="Oval 9"/>
          <p:cNvSpPr/>
          <p:nvPr/>
        </p:nvSpPr>
        <p:spPr>
          <a:xfrm>
            <a:off x="5858103" y="2139696"/>
            <a:ext cx="475488" cy="47548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1" name="Rounded Rectangle 10"/>
          <p:cNvSpPr/>
          <p:nvPr/>
        </p:nvSpPr>
        <p:spPr>
          <a:xfrm>
            <a:off x="7318674" y="2395728"/>
            <a:ext cx="2006742" cy="2743200"/>
          </a:xfrm>
          <a:prstGeom prst="roundRect">
            <a:avLst>
              <a:gd name="adj" fmla="val 6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lnSpc>
                <a:spcPct val="105000"/>
              </a:lnSpc>
              <a:spcBef>
                <a:spcPts val="0"/>
              </a:spcBef>
              <a:spcAft>
                <a:spcPts val="800"/>
              </a:spcAft>
            </a:pPr>
            <a:r>
              <a:rPr sz="1450" b="1" i="0">
                <a:solidFill>
                  <a:srgbClr val="065A82"/>
                </a:solidFill>
                <a:latin typeface="Cambria"/>
              </a:rPr>
              <a:t>Security scanning</a:t>
            </a:r>
          </a:p>
          <a:p>
            <a:pPr algn="l">
              <a:lnSpc>
                <a:spcPct val="114000"/>
              </a:lnSpc>
              <a:spcBef>
                <a:spcPts val="0"/>
              </a:spcBef>
              <a:spcAft>
                <a:spcPts val="0"/>
              </a:spcAft>
            </a:pPr>
            <a:r>
              <a:rPr sz="1200" b="0" i="0">
                <a:solidFill>
                  <a:srgbClr val="1B2233"/>
                </a:solidFill>
                <a:latin typeface="Calibri"/>
              </a:rPr>
              <a:t>npm audit and Trivy image scanning as a stage — fail the build on a known high-severity vulnerability.</a:t>
            </a:r>
          </a:p>
        </p:txBody>
      </p:sp>
      <p:sp>
        <p:nvSpPr>
          <p:cNvPr id="12" name="Oval 11"/>
          <p:cNvSpPr/>
          <p:nvPr/>
        </p:nvSpPr>
        <p:spPr>
          <a:xfrm>
            <a:off x="8084301" y="2139696"/>
            <a:ext cx="475488" cy="47548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3" name="Rounded Rectangle 12"/>
          <p:cNvSpPr/>
          <p:nvPr/>
        </p:nvSpPr>
        <p:spPr>
          <a:xfrm>
            <a:off x="9544872" y="2395728"/>
            <a:ext cx="2006742" cy="27432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lstStyle/>
          <a:p>
            <a:pPr algn="l">
              <a:lnSpc>
                <a:spcPct val="105000"/>
              </a:lnSpc>
              <a:spcBef>
                <a:spcPts val="0"/>
              </a:spcBef>
              <a:spcAft>
                <a:spcPts val="800"/>
              </a:spcAft>
            </a:pPr>
            <a:r>
              <a:rPr sz="1450" b="1" i="0">
                <a:solidFill>
                  <a:srgbClr val="065A82"/>
                </a:solidFill>
                <a:latin typeface="Cambria"/>
              </a:rPr>
              <a:t>Staging environment</a:t>
            </a:r>
          </a:p>
          <a:p>
            <a:pPr algn="l">
              <a:lnSpc>
                <a:spcPct val="114000"/>
              </a:lnSpc>
              <a:spcBef>
                <a:spcPts val="0"/>
              </a:spcBef>
              <a:spcAft>
                <a:spcPts val="0"/>
              </a:spcAft>
            </a:pPr>
            <a:r>
              <a:rPr sz="1200" b="0" i="0">
                <a:solidFill>
                  <a:srgbClr val="1B2233"/>
                </a:solidFill>
                <a:latin typeface="Calibri"/>
              </a:rPr>
              <a:t>Deploy every dev push to staging, promote to production on a release tag. Real changes get tested somewhere real first.</a:t>
            </a:r>
          </a:p>
        </p:txBody>
      </p:sp>
      <p:sp>
        <p:nvSpPr>
          <p:cNvPr id="14" name="Oval 13"/>
          <p:cNvSpPr/>
          <p:nvPr/>
        </p:nvSpPr>
        <p:spPr>
          <a:xfrm>
            <a:off x="10310500" y="2139696"/>
            <a:ext cx="475488" cy="47548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15" name="Rounded Rectangle 14"/>
          <p:cNvSpPr/>
          <p:nvPr/>
        </p:nvSpPr>
        <p:spPr>
          <a:xfrm>
            <a:off x="640080" y="5376672"/>
            <a:ext cx="10911535" cy="731520"/>
          </a:xfrm>
          <a:prstGeom prst="roundRect">
            <a:avLst>
              <a:gd name="adj" fmla="val 6000"/>
            </a:avLst>
          </a:prstGeom>
          <a:solidFill>
            <a:srgbClr val="E3EE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0" bIns="0"/>
          <a:lstStyle/>
          <a:p>
            <a:pPr algn="l">
              <a:spcBef>
                <a:spcPts val="0"/>
              </a:spcBef>
              <a:spcAft>
                <a:spcPts val="0"/>
              </a:spcAft>
            </a:pPr>
            <a:r>
              <a:rPr sz="1350" b="1" i="0">
                <a:solidFill>
                  <a:srgbClr val="065A82"/>
                </a:solidFill>
                <a:latin typeface="Calibri"/>
              </a:rPr>
              <a:t>The pattern: each addition is another automated gate. The pipeline gets stricter over time, never looser.</a:t>
            </a:r>
          </a:p>
        </p:txBody>
      </p:sp>
      <p:sp>
        <p:nvSpPr>
          <p:cNvPr id="16" name="TextBox 15"/>
          <p:cNvSpPr txBox="1"/>
          <p:nvPr/>
        </p:nvSpPr>
        <p:spPr>
          <a:xfrm>
            <a:off x="640080" y="6382512"/>
            <a:ext cx="10911535" cy="256032"/>
          </a:xfrm>
          <a:prstGeom prst="rect">
            <a:avLst/>
          </a:prstGeom>
          <a:noFill/>
        </p:spPr>
        <p:txBody>
          <a:bodyPr wrap="square" lIns="0" rIns="0" tIns="0" bIns="0">
            <a:spAutoFit/>
          </a:bodyPr>
          <a:lstStyle/>
          <a:p>
            <a:pPr algn="l">
              <a:spcBef>
                <a:spcPts val="0"/>
              </a:spcBef>
              <a:spcAft>
                <a:spcPts val="0"/>
              </a:spcAft>
            </a:pPr>
            <a:r>
              <a:rPr sz="1050" b="0" i="0">
                <a:solidFill>
                  <a:srgbClr val="5C6B7A"/>
                </a:solidFill>
                <a:latin typeface="Calibri"/>
              </a:rPr>
              <a:t>docs/CICD.md § 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sp>
        <p:nvSpPr>
          <p:cNvPr id="2" name="TextBox 1"/>
          <p:cNvSpPr txBox="1"/>
          <p:nvPr/>
        </p:nvSpPr>
        <p:spPr>
          <a:xfrm>
            <a:off x="640080" y="256032"/>
            <a:ext cx="5486400" cy="219456"/>
          </a:xfrm>
          <a:prstGeom prst="rect">
            <a:avLst/>
          </a:prstGeom>
          <a:noFill/>
        </p:spPr>
        <p:txBody>
          <a:bodyPr wrap="square" lIns="0" rIns="0" tIns="0" bIns="0">
            <a:spAutoFit/>
          </a:bodyPr>
          <a:lstStyle/>
          <a:p>
            <a:pPr algn="l">
              <a:spcBef>
                <a:spcPts val="0"/>
              </a:spcBef>
              <a:spcAft>
                <a:spcPts val="0"/>
              </a:spcAft>
            </a:pPr>
            <a:r>
              <a:rPr sz="1100" b="1" i="0" spc="160">
                <a:solidFill>
                  <a:srgbClr val="02C39A"/>
                </a:solidFill>
                <a:latin typeface="Calibri"/>
              </a:rPr>
              <a:t>LIVE DEMO</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Bef>
                <a:spcPts val="0"/>
              </a:spcBef>
              <a:spcAft>
                <a:spcPts val="0"/>
              </a:spcAft>
            </a:pPr>
            <a:r>
              <a:rPr sz="3200" b="1" i="0">
                <a:solidFill>
                  <a:srgbClr val="FFFFFF"/>
                </a:solidFill>
                <a:latin typeface="Cambria"/>
              </a:rPr>
              <a:t>Four things to show in the Actions tab</a:t>
            </a:r>
          </a:p>
        </p:txBody>
      </p:sp>
      <p:sp>
        <p:nvSpPr>
          <p:cNvPr id="4" name="TextBox 3"/>
          <p:cNvSpPr txBox="1"/>
          <p:nvPr/>
        </p:nvSpPr>
        <p:spPr>
          <a:xfrm>
            <a:off x="640080" y="1051560"/>
            <a:ext cx="10545775" cy="365760"/>
          </a:xfrm>
          <a:prstGeom prst="rect">
            <a:avLst/>
          </a:prstGeom>
          <a:noFill/>
        </p:spPr>
        <p:txBody>
          <a:bodyPr wrap="square" lIns="0" rIns="0" tIns="0" bIns="0">
            <a:spAutoFit/>
          </a:bodyPr>
          <a:lstStyle/>
          <a:p>
            <a:pPr algn="l">
              <a:spcBef>
                <a:spcPts val="0"/>
              </a:spcBef>
              <a:spcAft>
                <a:spcPts val="0"/>
              </a:spcAft>
            </a:pPr>
            <a:r>
              <a:rPr sz="1450" b="0" i="0">
                <a:solidFill>
                  <a:srgbClr val="C5D5E0"/>
                </a:solidFill>
                <a:latin typeface="Calibri"/>
              </a:rPr>
              <a:t>The pipeline is most convincing when you watch it block something.</a:t>
            </a:r>
          </a:p>
        </p:txBody>
      </p:sp>
      <p:sp>
        <p:nvSpPr>
          <p:cNvPr id="5" name="Rounded Rectangle 4"/>
          <p:cNvSpPr/>
          <p:nvPr/>
        </p:nvSpPr>
        <p:spPr>
          <a:xfrm>
            <a:off x="640080" y="2148840"/>
            <a:ext cx="10820095" cy="86868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118872"/>
          <a:lstStyle/>
          <a:p>
            <a:pPr algn="ctr">
              <a:spcAft>
                <a:spcPts val="400"/>
              </a:spcAft>
            </a:pPr>
            <a:r>
              <a:rPr sz="1500" b="1">
                <a:solidFill>
                  <a:srgbClr val="FFFFFF"/>
                </a:solidFill>
                <a:latin typeface="Cambria"/>
              </a:rPr>
              <a:t>Show it working</a:t>
            </a:r>
          </a:p>
          <a:p>
            <a:pPr algn="l">
              <a:lnSpc>
                <a:spcPct val="110000"/>
              </a:lnSpc>
              <a:spcBef>
                <a:spcPts val="0"/>
              </a:spcBef>
              <a:spcAft>
                <a:spcPts val="0"/>
              </a:spcAft>
            </a:pPr>
            <a:r>
              <a:rPr sz="1250" b="0" i="0">
                <a:solidFill>
                  <a:srgbClr val="C5D5E0"/>
                </a:solidFill>
                <a:latin typeface="Calibri"/>
              </a:rPr>
              <a:t>Actions → newest CI run. Point at the four stages, the two that run in parallel, and the green PostgreSQL service container.</a:t>
            </a:r>
          </a:p>
        </p:txBody>
      </p:sp>
      <p:sp>
        <p:nvSpPr>
          <p:cNvPr id="6" name="Oval 5"/>
          <p:cNvSpPr/>
          <p:nvPr/>
        </p:nvSpPr>
        <p:spPr>
          <a:xfrm>
            <a:off x="10865815" y="2386584"/>
            <a:ext cx="402336" cy="402336"/>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1295C"/>
                </a:solidFill>
                <a:latin typeface="Calibri"/>
              </a:rPr>
              <a:t>1</a:t>
            </a:r>
          </a:p>
        </p:txBody>
      </p:sp>
      <p:sp>
        <p:nvSpPr>
          <p:cNvPr id="7" name="Rounded Rectangle 6"/>
          <p:cNvSpPr/>
          <p:nvPr/>
        </p:nvSpPr>
        <p:spPr>
          <a:xfrm>
            <a:off x="640080" y="3118104"/>
            <a:ext cx="10820095" cy="86868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118872"/>
          <a:lstStyle/>
          <a:p>
            <a:pPr algn="ctr">
              <a:spcAft>
                <a:spcPts val="400"/>
              </a:spcAft>
            </a:pPr>
            <a:r>
              <a:rPr sz="1500" b="1">
                <a:solidFill>
                  <a:srgbClr val="FFFFFF"/>
                </a:solidFill>
                <a:latin typeface="Cambria"/>
              </a:rPr>
              <a:t>Show it catching a bug</a:t>
            </a:r>
          </a:p>
          <a:p>
            <a:pPr algn="l">
              <a:lnSpc>
                <a:spcPct val="110000"/>
              </a:lnSpc>
              <a:spcBef>
                <a:spcPts val="0"/>
              </a:spcBef>
              <a:spcAft>
                <a:spcPts val="0"/>
              </a:spcAft>
            </a:pPr>
            <a:r>
              <a:rPr sz="1250" b="0" i="0">
                <a:solidFill>
                  <a:srgbClr val="C5D5E0"/>
                </a:solidFill>
                <a:latin typeface="Calibri"/>
              </a:rPr>
              <a:t>On a branch, break one assertion in api.test.js and push. The pull request check goes red and merging is blocked. Then revert.</a:t>
            </a:r>
          </a:p>
        </p:txBody>
      </p:sp>
      <p:sp>
        <p:nvSpPr>
          <p:cNvPr id="8" name="Oval 7"/>
          <p:cNvSpPr/>
          <p:nvPr/>
        </p:nvSpPr>
        <p:spPr>
          <a:xfrm>
            <a:off x="10865815" y="3355848"/>
            <a:ext cx="402336" cy="402336"/>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1295C"/>
                </a:solidFill>
                <a:latin typeface="Calibri"/>
              </a:rPr>
              <a:t>2</a:t>
            </a:r>
          </a:p>
        </p:txBody>
      </p:sp>
      <p:sp>
        <p:nvSpPr>
          <p:cNvPr id="9" name="Rounded Rectangle 8"/>
          <p:cNvSpPr/>
          <p:nvPr/>
        </p:nvSpPr>
        <p:spPr>
          <a:xfrm>
            <a:off x="640080" y="4087368"/>
            <a:ext cx="10820095" cy="86868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118872"/>
          <a:lstStyle/>
          <a:p>
            <a:pPr algn="ctr">
              <a:spcAft>
                <a:spcPts val="400"/>
              </a:spcAft>
            </a:pPr>
            <a:r>
              <a:rPr sz="1500" b="1">
                <a:solidFill>
                  <a:srgbClr val="FFFFFF"/>
                </a:solidFill>
                <a:latin typeface="Cambria"/>
              </a:rPr>
              <a:t>Show delivery</a:t>
            </a:r>
          </a:p>
          <a:p>
            <a:pPr algn="l">
              <a:lnSpc>
                <a:spcPct val="110000"/>
              </a:lnSpc>
              <a:spcBef>
                <a:spcPts val="0"/>
              </a:spcBef>
              <a:spcAft>
                <a:spcPts val="0"/>
              </a:spcAft>
            </a:pPr>
            <a:r>
              <a:rPr sz="1250" b="0" i="0">
                <a:solidFill>
                  <a:srgbClr val="C5D5E0"/>
                </a:solidFill>
                <a:latin typeface="Calibri"/>
              </a:rPr>
              <a:t>Merge to main → CD runs → open Packages and show both images tagged with that commit's SHA.</a:t>
            </a:r>
          </a:p>
        </p:txBody>
      </p:sp>
      <p:sp>
        <p:nvSpPr>
          <p:cNvPr id="10" name="Oval 9"/>
          <p:cNvSpPr/>
          <p:nvPr/>
        </p:nvSpPr>
        <p:spPr>
          <a:xfrm>
            <a:off x="10865815" y="4325112"/>
            <a:ext cx="402336" cy="402336"/>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1295C"/>
                </a:solidFill>
                <a:latin typeface="Calibri"/>
              </a:rPr>
              <a:t>3</a:t>
            </a:r>
          </a:p>
        </p:txBody>
      </p:sp>
      <p:sp>
        <p:nvSpPr>
          <p:cNvPr id="11" name="Rounded Rectangle 10"/>
          <p:cNvSpPr/>
          <p:nvPr/>
        </p:nvSpPr>
        <p:spPr>
          <a:xfrm>
            <a:off x="640080" y="5056632"/>
            <a:ext cx="10820095" cy="86868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118872"/>
          <a:lstStyle/>
          <a:p>
            <a:pPr algn="ctr">
              <a:spcAft>
                <a:spcPts val="400"/>
              </a:spcAft>
            </a:pPr>
            <a:r>
              <a:rPr sz="1500" b="1">
                <a:solidFill>
                  <a:srgbClr val="FFFFFF"/>
                </a:solidFill>
                <a:latin typeface="Cambria"/>
              </a:rPr>
              <a:t>Show the gate</a:t>
            </a:r>
          </a:p>
          <a:p>
            <a:pPr algn="l">
              <a:lnSpc>
                <a:spcPct val="110000"/>
              </a:lnSpc>
              <a:spcBef>
                <a:spcPts val="0"/>
              </a:spcBef>
              <a:spcAft>
                <a:spcPts val="0"/>
              </a:spcAft>
            </a:pPr>
            <a:r>
              <a:rPr sz="1250" b="0" i="0">
                <a:solidFill>
                  <a:srgbClr val="C5D5E0"/>
                </a:solidFill>
                <a:latin typeface="Calibri"/>
              </a:rPr>
              <a:t>Point at the deploy job waiting on the production environment — that is delivery, not deployment.</a:t>
            </a:r>
          </a:p>
        </p:txBody>
      </p:sp>
      <p:sp>
        <p:nvSpPr>
          <p:cNvPr id="12" name="Oval 11"/>
          <p:cNvSpPr/>
          <p:nvPr/>
        </p:nvSpPr>
        <p:spPr>
          <a:xfrm>
            <a:off x="10865815" y="5294376"/>
            <a:ext cx="402336" cy="402336"/>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1295C"/>
                </a:solidFill>
                <a:latin typeface="Calibri"/>
              </a:rPr>
              <a:t>4</a:t>
            </a:r>
          </a:p>
        </p:txBody>
      </p:sp>
      <p:sp>
        <p:nvSpPr>
          <p:cNvPr id="13" name="TextBox 12"/>
          <p:cNvSpPr txBox="1"/>
          <p:nvPr/>
        </p:nvSpPr>
        <p:spPr>
          <a:xfrm>
            <a:off x="640080" y="6080760"/>
            <a:ext cx="10911535" cy="411480"/>
          </a:xfrm>
          <a:prstGeom prst="rect">
            <a:avLst/>
          </a:prstGeom>
          <a:noFill/>
        </p:spPr>
        <p:txBody>
          <a:bodyPr wrap="square" lIns="0" rIns="0" tIns="0" bIns="0">
            <a:spAutoFit/>
          </a:bodyPr>
          <a:lstStyle/>
          <a:p>
            <a:pPr algn="l">
              <a:spcBef>
                <a:spcPts val="0"/>
              </a:spcBef>
              <a:spcAft>
                <a:spcPts val="0"/>
              </a:spcAft>
            </a:pPr>
            <a:r>
              <a:rPr sz="1250" b="0" i="0">
                <a:solidFill>
                  <a:srgbClr val="02C39A"/>
                </a:solidFill>
                <a:latin typeface="Calibri"/>
              </a:rPr>
              <a:t>Full write-up, diagrams and this demo script:  docs/CICD.md  ·  workflows in .github/workflows/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