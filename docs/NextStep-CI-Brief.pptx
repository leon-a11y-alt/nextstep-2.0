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(about 35 seconds). My part of this project was the CI pipeline — continuous integration. The picture on the right is the four checks it runs. One pipeline, four stages, seventeen tests, and zero manual steps: once the code is pushed, GitHub Actions does all of it by itself. Before this, testing was manual, and the API tests were being skipped because they need a database with data in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(about 55 seconds). Four checks, in this order. Quality makes sure no passwords or .env files got committed. Tests is the main one: it starts a real PostgreSQL database, creates the tables, loads the seed data, runs seventeen tests, and then starts the server and checks the health endpoint replies — because tests passing does not prove the app actually starts. Build compiles the frontend the production way. Package builds both Docker containers, which no test can check. Then the two boxes at the bottom: if all four pass, the code is safe to merge. If one fails, GitHub blocks the merge. That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(about 30 seconds). It is live: it runs on every push, the tests use a real database, it checks the app boots, and both containers build. Seventeen out of seventeen tests pass, and it is green right now — offer to show the Actions tab. The one thing I would add next is tests for the frontend; right now only the backend is tested. Deployment is the next phase and was not part of my task.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02C39A"/>
                </a:solidFill>
                <a:latin typeface="Calibri"/>
              </a:rPr>
              <a:t>C270 DEVOPS ESSENTIALS  ·  HPONE DEPAR</a:t>
            </a:r>
          </a:p>
        </p:txBody>
      </p:sp>
      <p:pic>
        <p:nvPicPr>
          <p:cNvPr id="3" name="Picture 2" descr="hero_ci.png"/>
          <p:cNvPicPr>
            <a:picLocks noChangeAspect="1"/>
          </p:cNvPicPr>
          <p:nvPr/>
        </p:nvPicPr>
        <p:blipFill>
          <a:blip r:embed="rId2"/>
          <a:stretch>
            <a:fillRect/>
          </a:stretch>
        </p:blipFill>
        <p:spPr>
          <a:xfrm>
            <a:off x="8183879" y="822960"/>
            <a:ext cx="2859329" cy="5394960"/>
          </a:xfrm>
          <a:prstGeom prst="rect">
            <a:avLst/>
          </a:prstGeom>
        </p:spPr>
      </p:pic>
      <p:sp>
        <p:nvSpPr>
          <p:cNvPr id="4" name="TextBox 3"/>
          <p:cNvSpPr txBox="1"/>
          <p:nvPr/>
        </p:nvSpPr>
        <p:spPr>
          <a:xfrm>
            <a:off x="640080" y="1600200"/>
            <a:ext cx="6949440" cy="2011680"/>
          </a:xfrm>
          <a:prstGeom prst="rect">
            <a:avLst/>
          </a:prstGeom>
          <a:noFill/>
        </p:spPr>
        <p:txBody>
          <a:bodyPr wrap="square" lIns="0" rIns="0" tIns="0" bIns="0">
            <a:spAutoFit/>
          </a:bodyPr>
          <a:lstStyle/>
          <a:p>
            <a:pPr algn="l">
              <a:spcAft>
                <a:spcPts val="200"/>
              </a:spcAft>
            </a:pPr>
            <a:r>
              <a:rPr sz="5800" b="1" i="0">
                <a:solidFill>
                  <a:srgbClr val="FFFFFF"/>
                </a:solidFill>
                <a:latin typeface="Cambria"/>
              </a:rPr>
              <a:t>CI Pipeline</a:t>
            </a:r>
          </a:p>
          <a:p>
            <a:pPr algn="l">
              <a:spcAft>
                <a:spcPts val="0"/>
              </a:spcAft>
            </a:pPr>
            <a:r>
              <a:rPr sz="3000" b="0" i="0">
                <a:solidFill>
                  <a:srgbClr val="9FD9E8"/>
                </a:solidFill>
                <a:latin typeface="Cambria"/>
              </a:rPr>
              <a:t>for NextStep</a:t>
            </a:r>
          </a:p>
        </p:txBody>
      </p:sp>
      <p:sp>
        <p:nvSpPr>
          <p:cNvPr id="5" name="TextBox 4"/>
          <p:cNvSpPr txBox="1"/>
          <p:nvPr/>
        </p:nvSpPr>
        <p:spPr>
          <a:xfrm>
            <a:off x="640080" y="3703320"/>
            <a:ext cx="6766560" cy="868680"/>
          </a:xfrm>
          <a:prstGeom prst="rect">
            <a:avLst/>
          </a:prstGeom>
          <a:noFill/>
        </p:spPr>
        <p:txBody>
          <a:bodyPr wrap="square" lIns="0" rIns="0" tIns="0" bIns="0">
            <a:spAutoFit/>
          </a:bodyPr>
          <a:lstStyle/>
          <a:p>
            <a:pPr algn="l">
              <a:lnSpc>
                <a:spcPct val="110000"/>
              </a:lnSpc>
              <a:spcAft>
                <a:spcPts val="500"/>
              </a:spcAft>
            </a:pPr>
            <a:r>
              <a:rPr sz="2100" b="1" i="0">
                <a:solidFill>
                  <a:srgbClr val="02C39A"/>
                </a:solidFill>
                <a:latin typeface="Calibri"/>
              </a:rPr>
              <a:t>Every push is tested.</a:t>
            </a:r>
          </a:p>
          <a:p>
            <a:pPr algn="l">
              <a:lnSpc>
                <a:spcPct val="110000"/>
              </a:lnSpc>
              <a:spcAft>
                <a:spcPts val="0"/>
              </a:spcAft>
            </a:pPr>
            <a:r>
              <a:rPr sz="2100" b="1" i="0">
                <a:solidFill>
                  <a:srgbClr val="02C39A"/>
                </a:solidFill>
                <a:latin typeface="Calibri"/>
              </a:rPr>
              <a:t>Nobody has to remember.</a:t>
            </a:r>
          </a:p>
        </p:txBody>
      </p:sp>
      <p:sp>
        <p:nvSpPr>
          <p:cNvPr id="6" name="Rounded Rectangle 5"/>
          <p:cNvSpPr/>
          <p:nvPr/>
        </p:nvSpPr>
        <p:spPr>
          <a:xfrm>
            <a:off x="640080"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1</a:t>
            </a:r>
          </a:p>
          <a:p>
            <a:pPr algn="l">
              <a:lnSpc>
                <a:spcPct val="100000"/>
              </a:lnSpc>
              <a:spcAft>
                <a:spcPts val="0"/>
              </a:spcAft>
            </a:pPr>
            <a:r>
              <a:rPr sz="1150" b="0" i="0">
                <a:solidFill>
                  <a:srgbClr val="C5D5E0"/>
                </a:solidFill>
                <a:latin typeface="Calibri"/>
              </a:rPr>
              <a:t>pipeline</a:t>
            </a:r>
          </a:p>
        </p:txBody>
      </p:sp>
      <p:sp>
        <p:nvSpPr>
          <p:cNvPr id="7" name="Rounded Rectangle 6"/>
          <p:cNvSpPr/>
          <p:nvPr/>
        </p:nvSpPr>
        <p:spPr>
          <a:xfrm>
            <a:off x="2350008"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4</a:t>
            </a:r>
          </a:p>
          <a:p>
            <a:pPr algn="l">
              <a:lnSpc>
                <a:spcPct val="100000"/>
              </a:lnSpc>
              <a:spcAft>
                <a:spcPts val="0"/>
              </a:spcAft>
            </a:pPr>
            <a:r>
              <a:rPr sz="1150" b="0" i="0">
                <a:solidFill>
                  <a:srgbClr val="C5D5E0"/>
                </a:solidFill>
                <a:latin typeface="Calibri"/>
              </a:rPr>
              <a:t>stages</a:t>
            </a:r>
          </a:p>
        </p:txBody>
      </p:sp>
      <p:sp>
        <p:nvSpPr>
          <p:cNvPr id="8" name="Rounded Rectangle 7"/>
          <p:cNvSpPr/>
          <p:nvPr/>
        </p:nvSpPr>
        <p:spPr>
          <a:xfrm>
            <a:off x="4059936"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17</a:t>
            </a:r>
          </a:p>
          <a:p>
            <a:pPr algn="l">
              <a:lnSpc>
                <a:spcPct val="100000"/>
              </a:lnSpc>
              <a:spcAft>
                <a:spcPts val="0"/>
              </a:spcAft>
            </a:pPr>
            <a:r>
              <a:rPr sz="1150" b="0" i="0">
                <a:solidFill>
                  <a:srgbClr val="C5D5E0"/>
                </a:solidFill>
                <a:latin typeface="Calibri"/>
              </a:rPr>
              <a:t>tests</a:t>
            </a:r>
          </a:p>
        </p:txBody>
      </p:sp>
      <p:sp>
        <p:nvSpPr>
          <p:cNvPr id="9" name="Rounded Rectangle 8"/>
          <p:cNvSpPr/>
          <p:nvPr/>
        </p:nvSpPr>
        <p:spPr>
          <a:xfrm>
            <a:off x="5769864"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0</a:t>
            </a:r>
          </a:p>
          <a:p>
            <a:pPr algn="l">
              <a:lnSpc>
                <a:spcPct val="100000"/>
              </a:lnSpc>
              <a:spcAft>
                <a:spcPts val="0"/>
              </a:spcAft>
            </a:pPr>
            <a:r>
              <a:rPr sz="1150" b="0" i="0">
                <a:solidFill>
                  <a:srgbClr val="C5D5E0"/>
                </a:solidFill>
                <a:latin typeface="Calibri"/>
              </a:rPr>
              <a:t>manual steps</a:t>
            </a:r>
          </a:p>
        </p:txBody>
      </p:sp>
      <p:sp>
        <p:nvSpPr>
          <p:cNvPr id="10" name="TextBox 9"/>
          <p:cNvSpPr txBox="1"/>
          <p:nvPr/>
        </p:nvSpPr>
        <p:spPr>
          <a:xfrm>
            <a:off x="640080" y="6126480"/>
            <a:ext cx="6949440" cy="274320"/>
          </a:xfrm>
          <a:prstGeom prst="rect">
            <a:avLst/>
          </a:prstGeom>
          <a:noFill/>
        </p:spPr>
        <p:txBody>
          <a:bodyPr wrap="square" lIns="0" rIns="0" tIns="0" bIns="0">
            <a:spAutoFit/>
          </a:bodyPr>
          <a:lstStyle/>
          <a:p>
            <a:pPr algn="l">
              <a:spcAft>
                <a:spcPts val="0"/>
              </a:spcAft>
            </a:pPr>
            <a:r>
              <a:rPr sz="1200" b="1" i="0">
                <a:solidFill>
                  <a:srgbClr val="8CA3B8"/>
                </a:solidFill>
                <a:latin typeface="Calibri"/>
              </a:rPr>
              <a:t>GitHub Actions  ·  Docker  ·  PostgreSQL  ·  Node.js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1C7293"/>
                </a:solidFill>
                <a:latin typeface="Calibri"/>
              </a:rPr>
              <a:t>HOW IT WORKS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Aft>
                <a:spcPts val="0"/>
              </a:spcAft>
            </a:pPr>
            <a:r>
              <a:rPr sz="3400" b="1" i="0">
                <a:solidFill>
                  <a:srgbClr val="065A82"/>
                </a:solidFill>
                <a:latin typeface="Cambria"/>
              </a:rPr>
              <a:t>Four checks run on every push</a:t>
            </a:r>
          </a:p>
        </p:txBody>
      </p:sp>
      <p:sp>
        <p:nvSpPr>
          <p:cNvPr id="4" name="TextBox 3"/>
          <p:cNvSpPr txBox="1"/>
          <p:nvPr/>
        </p:nvSpPr>
        <p:spPr>
          <a:xfrm>
            <a:off x="640080" y="1060704"/>
            <a:ext cx="10545775" cy="365760"/>
          </a:xfrm>
          <a:prstGeom prst="rect">
            <a:avLst/>
          </a:prstGeom>
          <a:noFill/>
        </p:spPr>
        <p:txBody>
          <a:bodyPr wrap="square" lIns="0" rIns="0" tIns="0" bIns="0">
            <a:spAutoFit/>
          </a:bodyPr>
          <a:lstStyle/>
          <a:p>
            <a:pPr algn="l">
              <a:spcAft>
                <a:spcPts val="0"/>
              </a:spcAft>
            </a:pPr>
            <a:r>
              <a:rPr sz="1500" b="0" i="0">
                <a:solidFill>
                  <a:srgbClr val="5C6B7A"/>
                </a:solidFill>
                <a:latin typeface="Calibri"/>
              </a:rPr>
              <a:t>I push code. GitHub runs all four by itself. I don't do anything.</a:t>
            </a:r>
          </a:p>
        </p:txBody>
      </p:sp>
      <p:sp>
        <p:nvSpPr>
          <p:cNvPr id="5" name="Rounded Rectangle 4"/>
          <p:cNvSpPr/>
          <p:nvPr/>
        </p:nvSpPr>
        <p:spPr>
          <a:xfrm>
            <a:off x="640080" y="1938528"/>
            <a:ext cx="2478024" cy="233172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6" name="Picture 5" descr="d_quality.png"/>
          <p:cNvPicPr>
            <a:picLocks noChangeAspect="1"/>
          </p:cNvPicPr>
          <p:nvPr/>
        </p:nvPicPr>
        <p:blipFill>
          <a:blip r:embed="rId2"/>
          <a:stretch>
            <a:fillRect/>
          </a:stretch>
        </p:blipFill>
        <p:spPr>
          <a:xfrm>
            <a:off x="859536" y="2167128"/>
            <a:ext cx="731520" cy="731520"/>
          </a:xfrm>
          <a:prstGeom prst="rect">
            <a:avLst/>
          </a:prstGeom>
        </p:spPr>
      </p:pic>
      <p:sp>
        <p:nvSpPr>
          <p:cNvPr id="7" name="TextBox 6"/>
          <p:cNvSpPr txBox="1"/>
          <p:nvPr/>
        </p:nvSpPr>
        <p:spPr>
          <a:xfrm>
            <a:off x="859536" y="3081528"/>
            <a:ext cx="2039112" cy="365760"/>
          </a:xfrm>
          <a:prstGeom prst="rect">
            <a:avLst/>
          </a:prstGeom>
          <a:noFill/>
        </p:spPr>
        <p:txBody>
          <a:bodyPr wrap="square" lIns="0" rIns="0" tIns="0" bIns="0">
            <a:spAutoFit/>
          </a:bodyPr>
          <a:lstStyle/>
          <a:p>
            <a:pPr algn="l">
              <a:spcAft>
                <a:spcPts val="0"/>
              </a:spcAft>
            </a:pPr>
            <a:r>
              <a:rPr sz="1800" b="1" i="0">
                <a:solidFill>
                  <a:srgbClr val="065A82"/>
                </a:solidFill>
                <a:latin typeface="Cambria"/>
              </a:rPr>
              <a:t>1  Quality</a:t>
            </a:r>
          </a:p>
        </p:txBody>
      </p:sp>
      <p:sp>
        <p:nvSpPr>
          <p:cNvPr id="8" name="TextBox 7"/>
          <p:cNvSpPr txBox="1"/>
          <p:nvPr/>
        </p:nvSpPr>
        <p:spPr>
          <a:xfrm>
            <a:off x="859536" y="3538728"/>
            <a:ext cx="2039112" cy="685800"/>
          </a:xfrm>
          <a:prstGeom prst="rect">
            <a:avLst/>
          </a:prstGeom>
          <a:noFill/>
        </p:spPr>
        <p:txBody>
          <a:bodyPr wrap="square" lIns="0" rIns="0" tIns="0" bIns="0">
            <a:spAutoFit/>
          </a:bodyPr>
          <a:lstStyle/>
          <a:p>
            <a:pPr algn="l">
              <a:lnSpc>
                <a:spcPct val="112000"/>
              </a:lnSpc>
              <a:spcAft>
                <a:spcPts val="0"/>
              </a:spcAft>
            </a:pPr>
            <a:r>
              <a:rPr sz="1250" b="0" i="0">
                <a:solidFill>
                  <a:srgbClr val="5C6B7A"/>
                </a:solidFill>
                <a:latin typeface="Calibri"/>
              </a:rPr>
              <a:t>No passwords or secret files in the repo.</a:t>
            </a:r>
          </a:p>
        </p:txBody>
      </p:sp>
      <p:sp>
        <p:nvSpPr>
          <p:cNvPr id="9" name="Right Arrow 8"/>
          <p:cNvSpPr/>
          <p:nvPr/>
        </p:nvSpPr>
        <p:spPr>
          <a:xfrm>
            <a:off x="3145536" y="2990088"/>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47287" y="1938528"/>
            <a:ext cx="2478024" cy="233172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1" name="Picture 10" descr="d_database.png"/>
          <p:cNvPicPr>
            <a:picLocks noChangeAspect="1"/>
          </p:cNvPicPr>
          <p:nvPr/>
        </p:nvPicPr>
        <p:blipFill>
          <a:blip r:embed="rId3"/>
          <a:stretch>
            <a:fillRect/>
          </a:stretch>
        </p:blipFill>
        <p:spPr>
          <a:xfrm>
            <a:off x="3666744" y="2167128"/>
            <a:ext cx="731520" cy="731520"/>
          </a:xfrm>
          <a:prstGeom prst="rect">
            <a:avLst/>
          </a:prstGeom>
        </p:spPr>
      </p:pic>
      <p:sp>
        <p:nvSpPr>
          <p:cNvPr id="12" name="TextBox 11"/>
          <p:cNvSpPr txBox="1"/>
          <p:nvPr/>
        </p:nvSpPr>
        <p:spPr>
          <a:xfrm>
            <a:off x="3666744" y="3081528"/>
            <a:ext cx="2039112" cy="365760"/>
          </a:xfrm>
          <a:prstGeom prst="rect">
            <a:avLst/>
          </a:prstGeom>
          <a:noFill/>
        </p:spPr>
        <p:txBody>
          <a:bodyPr wrap="square" lIns="0" rIns="0" tIns="0" bIns="0">
            <a:spAutoFit/>
          </a:bodyPr>
          <a:lstStyle/>
          <a:p>
            <a:pPr algn="l">
              <a:spcAft>
                <a:spcPts val="0"/>
              </a:spcAft>
            </a:pPr>
            <a:r>
              <a:rPr sz="1800" b="1" i="0">
                <a:solidFill>
                  <a:srgbClr val="065A82"/>
                </a:solidFill>
                <a:latin typeface="Cambria"/>
              </a:rPr>
              <a:t>2  Tests</a:t>
            </a:r>
          </a:p>
        </p:txBody>
      </p:sp>
      <p:sp>
        <p:nvSpPr>
          <p:cNvPr id="13" name="TextBox 12"/>
          <p:cNvSpPr txBox="1"/>
          <p:nvPr/>
        </p:nvSpPr>
        <p:spPr>
          <a:xfrm>
            <a:off x="3666744" y="3538728"/>
            <a:ext cx="2039112" cy="685800"/>
          </a:xfrm>
          <a:prstGeom prst="rect">
            <a:avLst/>
          </a:prstGeom>
          <a:noFill/>
        </p:spPr>
        <p:txBody>
          <a:bodyPr wrap="square" lIns="0" rIns="0" tIns="0" bIns="0">
            <a:spAutoFit/>
          </a:bodyPr>
          <a:lstStyle/>
          <a:p>
            <a:pPr algn="l">
              <a:lnSpc>
                <a:spcPct val="112000"/>
              </a:lnSpc>
              <a:spcAft>
                <a:spcPts val="0"/>
              </a:spcAft>
            </a:pPr>
            <a:r>
              <a:rPr sz="1250" b="0" i="0">
                <a:solidFill>
                  <a:srgbClr val="5C6B7A"/>
                </a:solidFill>
                <a:latin typeface="Calibri"/>
              </a:rPr>
              <a:t>Starts a real database, runs 17 tests, then checks the app actually starts.</a:t>
            </a:r>
          </a:p>
        </p:txBody>
      </p:sp>
      <p:sp>
        <p:nvSpPr>
          <p:cNvPr id="14" name="Right Arrow 13"/>
          <p:cNvSpPr/>
          <p:nvPr/>
        </p:nvSpPr>
        <p:spPr>
          <a:xfrm>
            <a:off x="5952744" y="2990088"/>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4496" y="1938528"/>
            <a:ext cx="2478024" cy="233172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6" name="Picture 15" descr="d_build.png"/>
          <p:cNvPicPr>
            <a:picLocks noChangeAspect="1"/>
          </p:cNvPicPr>
          <p:nvPr/>
        </p:nvPicPr>
        <p:blipFill>
          <a:blip r:embed="rId4"/>
          <a:stretch>
            <a:fillRect/>
          </a:stretch>
        </p:blipFill>
        <p:spPr>
          <a:xfrm>
            <a:off x="6473952" y="2167128"/>
            <a:ext cx="731520" cy="731520"/>
          </a:xfrm>
          <a:prstGeom prst="rect">
            <a:avLst/>
          </a:prstGeom>
        </p:spPr>
      </p:pic>
      <p:sp>
        <p:nvSpPr>
          <p:cNvPr id="17" name="TextBox 16"/>
          <p:cNvSpPr txBox="1"/>
          <p:nvPr/>
        </p:nvSpPr>
        <p:spPr>
          <a:xfrm>
            <a:off x="6473952" y="3081528"/>
            <a:ext cx="2039112" cy="365760"/>
          </a:xfrm>
          <a:prstGeom prst="rect">
            <a:avLst/>
          </a:prstGeom>
          <a:noFill/>
        </p:spPr>
        <p:txBody>
          <a:bodyPr wrap="square" lIns="0" rIns="0" tIns="0" bIns="0">
            <a:spAutoFit/>
          </a:bodyPr>
          <a:lstStyle/>
          <a:p>
            <a:pPr algn="l">
              <a:spcAft>
                <a:spcPts val="0"/>
              </a:spcAft>
            </a:pPr>
            <a:r>
              <a:rPr sz="1800" b="1" i="0">
                <a:solidFill>
                  <a:srgbClr val="065A82"/>
                </a:solidFill>
                <a:latin typeface="Cambria"/>
              </a:rPr>
              <a:t>3  Build</a:t>
            </a:r>
          </a:p>
        </p:txBody>
      </p:sp>
      <p:sp>
        <p:nvSpPr>
          <p:cNvPr id="18" name="TextBox 17"/>
          <p:cNvSpPr txBox="1"/>
          <p:nvPr/>
        </p:nvSpPr>
        <p:spPr>
          <a:xfrm>
            <a:off x="6473952" y="3538728"/>
            <a:ext cx="2039112" cy="685800"/>
          </a:xfrm>
          <a:prstGeom prst="rect">
            <a:avLst/>
          </a:prstGeom>
          <a:noFill/>
        </p:spPr>
        <p:txBody>
          <a:bodyPr wrap="square" lIns="0" rIns="0" tIns="0" bIns="0">
            <a:spAutoFit/>
          </a:bodyPr>
          <a:lstStyle/>
          <a:p>
            <a:pPr algn="l">
              <a:lnSpc>
                <a:spcPct val="112000"/>
              </a:lnSpc>
              <a:spcAft>
                <a:spcPts val="0"/>
              </a:spcAft>
            </a:pPr>
            <a:r>
              <a:rPr sz="1250" b="0" i="0">
                <a:solidFill>
                  <a:srgbClr val="5C6B7A"/>
                </a:solidFill>
                <a:latin typeface="Calibri"/>
              </a:rPr>
              <a:t>Builds the frontend the same way as the real thing.</a:t>
            </a:r>
          </a:p>
        </p:txBody>
      </p:sp>
      <p:sp>
        <p:nvSpPr>
          <p:cNvPr id="19" name="Right Arrow 18"/>
          <p:cNvSpPr/>
          <p:nvPr/>
        </p:nvSpPr>
        <p:spPr>
          <a:xfrm>
            <a:off x="8759952" y="2990088"/>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61704" y="1938528"/>
            <a:ext cx="2478024" cy="233172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21" name="Picture 20" descr="d_container.png"/>
          <p:cNvPicPr>
            <a:picLocks noChangeAspect="1"/>
          </p:cNvPicPr>
          <p:nvPr/>
        </p:nvPicPr>
        <p:blipFill>
          <a:blip r:embed="rId5"/>
          <a:stretch>
            <a:fillRect/>
          </a:stretch>
        </p:blipFill>
        <p:spPr>
          <a:xfrm>
            <a:off x="9281160" y="2167128"/>
            <a:ext cx="731520" cy="731520"/>
          </a:xfrm>
          <a:prstGeom prst="rect">
            <a:avLst/>
          </a:prstGeom>
        </p:spPr>
      </p:pic>
      <p:sp>
        <p:nvSpPr>
          <p:cNvPr id="22" name="TextBox 21"/>
          <p:cNvSpPr txBox="1"/>
          <p:nvPr/>
        </p:nvSpPr>
        <p:spPr>
          <a:xfrm>
            <a:off x="9281160" y="3081528"/>
            <a:ext cx="2039112" cy="365760"/>
          </a:xfrm>
          <a:prstGeom prst="rect">
            <a:avLst/>
          </a:prstGeom>
          <a:noFill/>
        </p:spPr>
        <p:txBody>
          <a:bodyPr wrap="square" lIns="0" rIns="0" tIns="0" bIns="0">
            <a:spAutoFit/>
          </a:bodyPr>
          <a:lstStyle/>
          <a:p>
            <a:pPr algn="l">
              <a:spcAft>
                <a:spcPts val="0"/>
              </a:spcAft>
            </a:pPr>
            <a:r>
              <a:rPr sz="1800" b="1" i="0">
                <a:solidFill>
                  <a:srgbClr val="065A82"/>
                </a:solidFill>
                <a:latin typeface="Cambria"/>
              </a:rPr>
              <a:t>4  Package</a:t>
            </a:r>
          </a:p>
        </p:txBody>
      </p:sp>
      <p:sp>
        <p:nvSpPr>
          <p:cNvPr id="23" name="TextBox 22"/>
          <p:cNvSpPr txBox="1"/>
          <p:nvPr/>
        </p:nvSpPr>
        <p:spPr>
          <a:xfrm>
            <a:off x="9281160" y="3538728"/>
            <a:ext cx="2039112" cy="685800"/>
          </a:xfrm>
          <a:prstGeom prst="rect">
            <a:avLst/>
          </a:prstGeom>
          <a:noFill/>
        </p:spPr>
        <p:txBody>
          <a:bodyPr wrap="square" lIns="0" rIns="0" tIns="0" bIns="0">
            <a:spAutoFit/>
          </a:bodyPr>
          <a:lstStyle/>
          <a:p>
            <a:pPr algn="l">
              <a:lnSpc>
                <a:spcPct val="112000"/>
              </a:lnSpc>
              <a:spcAft>
                <a:spcPts val="0"/>
              </a:spcAft>
            </a:pPr>
            <a:r>
              <a:rPr sz="1250" b="0" i="0">
                <a:solidFill>
                  <a:srgbClr val="5C6B7A"/>
                </a:solidFill>
                <a:latin typeface="Calibri"/>
              </a:rPr>
              <a:t>Builds both Docker containers.</a:t>
            </a:r>
          </a:p>
        </p:txBody>
      </p:sp>
      <p:sp>
        <p:nvSpPr>
          <p:cNvPr id="24" name="Rounded Rectangle 23"/>
          <p:cNvSpPr/>
          <p:nvPr/>
        </p:nvSpPr>
        <p:spPr>
          <a:xfrm>
            <a:off x="640080" y="4572000"/>
            <a:ext cx="5303520" cy="960120"/>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25" name="Picture 24" descr="g_check.png"/>
          <p:cNvPicPr>
            <a:picLocks noChangeAspect="1"/>
          </p:cNvPicPr>
          <p:nvPr/>
        </p:nvPicPr>
        <p:blipFill>
          <a:blip r:embed="rId6"/>
          <a:stretch>
            <a:fillRect/>
          </a:stretch>
        </p:blipFill>
        <p:spPr>
          <a:xfrm>
            <a:off x="859536" y="4800600"/>
            <a:ext cx="502920" cy="502920"/>
          </a:xfrm>
          <a:prstGeom prst="rect">
            <a:avLst/>
          </a:prstGeom>
        </p:spPr>
      </p:pic>
      <p:sp>
        <p:nvSpPr>
          <p:cNvPr id="26" name="TextBox 25"/>
          <p:cNvSpPr txBox="1"/>
          <p:nvPr/>
        </p:nvSpPr>
        <p:spPr>
          <a:xfrm>
            <a:off x="1600200" y="4864608"/>
            <a:ext cx="4023360" cy="457200"/>
          </a:xfrm>
          <a:prstGeom prst="rect">
            <a:avLst/>
          </a:prstGeom>
          <a:noFill/>
        </p:spPr>
        <p:txBody>
          <a:bodyPr wrap="square" lIns="0" rIns="0" tIns="0" bIns="0">
            <a:spAutoFit/>
          </a:bodyPr>
          <a:lstStyle/>
          <a:p>
            <a:pPr algn="l">
              <a:spcAft>
                <a:spcPts val="0"/>
              </a:spcAft>
            </a:pPr>
            <a:r>
              <a:rPr sz="1550" b="1" i="0">
                <a:solidFill>
                  <a:srgbClr val="0B6B53"/>
                </a:solidFill>
                <a:latin typeface="Cambria"/>
              </a:rPr>
              <a:t>All four pass  →  safe to merge</a:t>
            </a:r>
          </a:p>
        </p:txBody>
      </p:sp>
      <p:sp>
        <p:nvSpPr>
          <p:cNvPr id="27" name="Rounded Rectangle 26"/>
          <p:cNvSpPr/>
          <p:nvPr/>
        </p:nvSpPr>
        <p:spPr>
          <a:xfrm>
            <a:off x="6245352" y="4572000"/>
            <a:ext cx="5303520" cy="960120"/>
          </a:xfrm>
          <a:prstGeom prst="roundRect">
            <a:avLst>
              <a:gd name="adj" fmla="val 6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28" name="Picture 27" descr="r_cross.png"/>
          <p:cNvPicPr>
            <a:picLocks noChangeAspect="1"/>
          </p:cNvPicPr>
          <p:nvPr/>
        </p:nvPicPr>
        <p:blipFill>
          <a:blip r:embed="rId7"/>
          <a:stretch>
            <a:fillRect/>
          </a:stretch>
        </p:blipFill>
        <p:spPr>
          <a:xfrm>
            <a:off x="6464808" y="4800600"/>
            <a:ext cx="502920" cy="502920"/>
          </a:xfrm>
          <a:prstGeom prst="rect">
            <a:avLst/>
          </a:prstGeom>
        </p:spPr>
      </p:pic>
      <p:sp>
        <p:nvSpPr>
          <p:cNvPr id="29" name="TextBox 28"/>
          <p:cNvSpPr txBox="1"/>
          <p:nvPr/>
        </p:nvSpPr>
        <p:spPr>
          <a:xfrm>
            <a:off x="7205472" y="4864608"/>
            <a:ext cx="4023360" cy="457200"/>
          </a:xfrm>
          <a:prstGeom prst="rect">
            <a:avLst/>
          </a:prstGeom>
          <a:noFill/>
        </p:spPr>
        <p:txBody>
          <a:bodyPr wrap="square" lIns="0" rIns="0" tIns="0" bIns="0">
            <a:spAutoFit/>
          </a:bodyPr>
          <a:lstStyle/>
          <a:p>
            <a:pPr algn="l">
              <a:spcAft>
                <a:spcPts val="0"/>
              </a:spcAft>
            </a:pPr>
            <a:r>
              <a:rPr sz="1550" b="1" i="0">
                <a:solidFill>
                  <a:srgbClr val="B02E2E"/>
                </a:solidFill>
                <a:latin typeface="Cambria"/>
              </a:rPr>
              <a:t>One fails  →  the PR turns red</a:t>
            </a:r>
          </a:p>
        </p:txBody>
      </p:sp>
      <p:sp>
        <p:nvSpPr>
          <p:cNvPr id="30" name="TextBox 29"/>
          <p:cNvSpPr txBox="1"/>
          <p:nvPr/>
        </p:nvSpPr>
        <p:spPr>
          <a:xfrm>
            <a:off x="640080" y="5760720"/>
            <a:ext cx="10881360" cy="548640"/>
          </a:xfrm>
          <a:prstGeom prst="rect">
            <a:avLst/>
          </a:prstGeom>
          <a:noFill/>
        </p:spPr>
        <p:txBody>
          <a:bodyPr wrap="square" lIns="0" rIns="0" tIns="0" bIns="0">
            <a:spAutoFit/>
          </a:bodyPr>
          <a:lstStyle/>
          <a:p>
            <a:pPr algn="l">
              <a:spcAft>
                <a:spcPts val="0"/>
              </a:spcAft>
            </a:pPr>
            <a:r>
              <a:rPr sz="1300" b="0" i="1">
                <a:solidFill>
                  <a:srgbClr val="5C6B7A"/>
                </a:solidFill>
                <a:latin typeface="Calibri"/>
              </a:rPr>
              <a:t>Turn on branch protection and GitHub then refuses the merge — so broken code cannot reach the main branch.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1C7293"/>
                </a:solidFill>
                <a:latin typeface="Calibri"/>
              </a:rPr>
              <a:t>WHERE IT STANDS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Aft>
                <a:spcPts val="0"/>
              </a:spcAft>
            </a:pPr>
            <a:r>
              <a:rPr sz="3400" b="1" i="0">
                <a:solidFill>
                  <a:srgbClr val="065A82"/>
                </a:solidFill>
                <a:latin typeface="Cambria"/>
              </a:rPr>
              <a:t>It is running now</a:t>
            </a:r>
          </a:p>
        </p:txBody>
      </p:sp>
      <p:sp>
        <p:nvSpPr>
          <p:cNvPr id="4" name="TextBox 3"/>
          <p:cNvSpPr txBox="1"/>
          <p:nvPr/>
        </p:nvSpPr>
        <p:spPr>
          <a:xfrm>
            <a:off x="640080" y="1060704"/>
            <a:ext cx="10545775" cy="365760"/>
          </a:xfrm>
          <a:prstGeom prst="rect">
            <a:avLst/>
          </a:prstGeom>
          <a:noFill/>
        </p:spPr>
        <p:txBody>
          <a:bodyPr wrap="square" lIns="0" rIns="0" tIns="0" bIns="0">
            <a:spAutoFit/>
          </a:bodyPr>
          <a:lstStyle/>
          <a:p>
            <a:pPr algn="l">
              <a:spcAft>
                <a:spcPts val="0"/>
              </a:spcAft>
            </a:pPr>
            <a:r>
              <a:rPr sz="1500" b="0" i="0">
                <a:solidFill>
                  <a:srgbClr val="5C6B7A"/>
                </a:solidFill>
                <a:latin typeface="Calibri"/>
              </a:rPr>
              <a:t>Green on GitHub today. One thing I would still add.</a:t>
            </a:r>
          </a:p>
        </p:txBody>
      </p:sp>
      <p:sp>
        <p:nvSpPr>
          <p:cNvPr id="5" name="Rounded Rectangle 4"/>
          <p:cNvSpPr/>
          <p:nvPr/>
        </p:nvSpPr>
        <p:spPr>
          <a:xfrm>
            <a:off x="640080" y="1783080"/>
            <a:ext cx="5029200" cy="804672"/>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6" name="Picture 5" descr="g_check.png"/>
          <p:cNvPicPr>
            <a:picLocks noChangeAspect="1"/>
          </p:cNvPicPr>
          <p:nvPr/>
        </p:nvPicPr>
        <p:blipFill>
          <a:blip r:embed="rId2"/>
          <a:stretch>
            <a:fillRect/>
          </a:stretch>
        </p:blipFill>
        <p:spPr>
          <a:xfrm>
            <a:off x="859536" y="1965960"/>
            <a:ext cx="420624" cy="420624"/>
          </a:xfrm>
          <a:prstGeom prst="rect">
            <a:avLst/>
          </a:prstGeom>
        </p:spPr>
      </p:pic>
      <p:sp>
        <p:nvSpPr>
          <p:cNvPr id="7" name="TextBox 6"/>
          <p:cNvSpPr txBox="1"/>
          <p:nvPr/>
        </p:nvSpPr>
        <p:spPr>
          <a:xfrm>
            <a:off x="1572768" y="2020824"/>
            <a:ext cx="3886200" cy="384048"/>
          </a:xfrm>
          <a:prstGeom prst="rect">
            <a:avLst/>
          </a:prstGeom>
          <a:noFill/>
        </p:spPr>
        <p:txBody>
          <a:bodyPr wrap="square" lIns="0" rIns="0" tIns="0" bIns="0">
            <a:spAutoFit/>
          </a:bodyPr>
          <a:lstStyle/>
          <a:p>
            <a:pPr algn="l">
              <a:lnSpc>
                <a:spcPct val="100000"/>
              </a:lnSpc>
              <a:spcAft>
                <a:spcPts val="0"/>
              </a:spcAft>
            </a:pPr>
            <a:r>
              <a:rPr sz="1500" b="1" i="0">
                <a:solidFill>
                  <a:srgbClr val="0B6B53"/>
                </a:solidFill>
                <a:latin typeface="Cambria"/>
              </a:rPr>
              <a:t>Runs on every push and pull request</a:t>
            </a:r>
          </a:p>
        </p:txBody>
      </p:sp>
      <p:sp>
        <p:nvSpPr>
          <p:cNvPr id="8" name="Rounded Rectangle 7"/>
          <p:cNvSpPr/>
          <p:nvPr/>
        </p:nvSpPr>
        <p:spPr>
          <a:xfrm>
            <a:off x="640080" y="2679191"/>
            <a:ext cx="5029200" cy="804672"/>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9" name="Picture 8" descr="g_check.png"/>
          <p:cNvPicPr>
            <a:picLocks noChangeAspect="1"/>
          </p:cNvPicPr>
          <p:nvPr/>
        </p:nvPicPr>
        <p:blipFill>
          <a:blip r:embed="rId2"/>
          <a:stretch>
            <a:fillRect/>
          </a:stretch>
        </p:blipFill>
        <p:spPr>
          <a:xfrm>
            <a:off x="859536" y="2862072"/>
            <a:ext cx="420624" cy="420624"/>
          </a:xfrm>
          <a:prstGeom prst="rect">
            <a:avLst/>
          </a:prstGeom>
        </p:spPr>
      </p:pic>
      <p:sp>
        <p:nvSpPr>
          <p:cNvPr id="10" name="TextBox 9"/>
          <p:cNvSpPr txBox="1"/>
          <p:nvPr/>
        </p:nvSpPr>
        <p:spPr>
          <a:xfrm>
            <a:off x="1572768" y="2916935"/>
            <a:ext cx="3886200" cy="384048"/>
          </a:xfrm>
          <a:prstGeom prst="rect">
            <a:avLst/>
          </a:prstGeom>
          <a:noFill/>
        </p:spPr>
        <p:txBody>
          <a:bodyPr wrap="square" lIns="0" rIns="0" tIns="0" bIns="0">
            <a:spAutoFit/>
          </a:bodyPr>
          <a:lstStyle/>
          <a:p>
            <a:pPr algn="l">
              <a:lnSpc>
                <a:spcPct val="100000"/>
              </a:lnSpc>
              <a:spcAft>
                <a:spcPts val="0"/>
              </a:spcAft>
            </a:pPr>
            <a:r>
              <a:rPr sz="1500" b="1" i="0">
                <a:solidFill>
                  <a:srgbClr val="0B6B53"/>
                </a:solidFill>
                <a:latin typeface="Cambria"/>
              </a:rPr>
              <a:t>Tests run on a real PostgreSQL database</a:t>
            </a:r>
          </a:p>
        </p:txBody>
      </p:sp>
      <p:sp>
        <p:nvSpPr>
          <p:cNvPr id="11" name="Rounded Rectangle 10"/>
          <p:cNvSpPr/>
          <p:nvPr/>
        </p:nvSpPr>
        <p:spPr>
          <a:xfrm>
            <a:off x="640080" y="3575303"/>
            <a:ext cx="5029200" cy="804672"/>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2" name="Picture 11" descr="g_check.png"/>
          <p:cNvPicPr>
            <a:picLocks noChangeAspect="1"/>
          </p:cNvPicPr>
          <p:nvPr/>
        </p:nvPicPr>
        <p:blipFill>
          <a:blip r:embed="rId2"/>
          <a:stretch>
            <a:fillRect/>
          </a:stretch>
        </p:blipFill>
        <p:spPr>
          <a:xfrm>
            <a:off x="859536" y="3758183"/>
            <a:ext cx="420624" cy="420624"/>
          </a:xfrm>
          <a:prstGeom prst="rect">
            <a:avLst/>
          </a:prstGeom>
        </p:spPr>
      </p:pic>
      <p:sp>
        <p:nvSpPr>
          <p:cNvPr id="13" name="TextBox 12"/>
          <p:cNvSpPr txBox="1"/>
          <p:nvPr/>
        </p:nvSpPr>
        <p:spPr>
          <a:xfrm>
            <a:off x="1572768" y="3813048"/>
            <a:ext cx="3886200" cy="384048"/>
          </a:xfrm>
          <a:prstGeom prst="rect">
            <a:avLst/>
          </a:prstGeom>
          <a:noFill/>
        </p:spPr>
        <p:txBody>
          <a:bodyPr wrap="square" lIns="0" rIns="0" tIns="0" bIns="0">
            <a:spAutoFit/>
          </a:bodyPr>
          <a:lstStyle/>
          <a:p>
            <a:pPr algn="l">
              <a:lnSpc>
                <a:spcPct val="100000"/>
              </a:lnSpc>
              <a:spcAft>
                <a:spcPts val="0"/>
              </a:spcAft>
            </a:pPr>
            <a:r>
              <a:rPr sz="1500" b="1" i="0">
                <a:solidFill>
                  <a:srgbClr val="0B6B53"/>
                </a:solidFill>
                <a:latin typeface="Cambria"/>
              </a:rPr>
              <a:t>Checks that the app actually starts</a:t>
            </a:r>
          </a:p>
        </p:txBody>
      </p:sp>
      <p:sp>
        <p:nvSpPr>
          <p:cNvPr id="14" name="Rounded Rectangle 13"/>
          <p:cNvSpPr/>
          <p:nvPr/>
        </p:nvSpPr>
        <p:spPr>
          <a:xfrm>
            <a:off x="640080" y="4471416"/>
            <a:ext cx="5029200" cy="804672"/>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5" name="Picture 14" descr="g_check.png"/>
          <p:cNvPicPr>
            <a:picLocks noChangeAspect="1"/>
          </p:cNvPicPr>
          <p:nvPr/>
        </p:nvPicPr>
        <p:blipFill>
          <a:blip r:embed="rId2"/>
          <a:stretch>
            <a:fillRect/>
          </a:stretch>
        </p:blipFill>
        <p:spPr>
          <a:xfrm>
            <a:off x="859536" y="4654296"/>
            <a:ext cx="420624" cy="420624"/>
          </a:xfrm>
          <a:prstGeom prst="rect">
            <a:avLst/>
          </a:prstGeom>
        </p:spPr>
      </p:pic>
      <p:sp>
        <p:nvSpPr>
          <p:cNvPr id="16" name="TextBox 15"/>
          <p:cNvSpPr txBox="1"/>
          <p:nvPr/>
        </p:nvSpPr>
        <p:spPr>
          <a:xfrm>
            <a:off x="1572768" y="4709159"/>
            <a:ext cx="3886200" cy="384048"/>
          </a:xfrm>
          <a:prstGeom prst="rect">
            <a:avLst/>
          </a:prstGeom>
          <a:noFill/>
        </p:spPr>
        <p:txBody>
          <a:bodyPr wrap="square" lIns="0" rIns="0" tIns="0" bIns="0">
            <a:spAutoFit/>
          </a:bodyPr>
          <a:lstStyle/>
          <a:p>
            <a:pPr algn="l">
              <a:lnSpc>
                <a:spcPct val="100000"/>
              </a:lnSpc>
              <a:spcAft>
                <a:spcPts val="0"/>
              </a:spcAft>
            </a:pPr>
            <a:r>
              <a:rPr sz="1500" b="1" i="0">
                <a:solidFill>
                  <a:srgbClr val="0B6B53"/>
                </a:solidFill>
                <a:latin typeface="Cambria"/>
              </a:rPr>
              <a:t>Both Docker containers build</a:t>
            </a:r>
          </a:p>
        </p:txBody>
      </p:sp>
      <p:sp>
        <p:nvSpPr>
          <p:cNvPr id="17" name="Rounded Rectangle 16"/>
          <p:cNvSpPr/>
          <p:nvPr/>
        </p:nvSpPr>
        <p:spPr>
          <a:xfrm>
            <a:off x="640080" y="5367527"/>
            <a:ext cx="5029200" cy="804672"/>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8" name="Picture 17" descr="a_pause.png"/>
          <p:cNvPicPr>
            <a:picLocks noChangeAspect="1"/>
          </p:cNvPicPr>
          <p:nvPr/>
        </p:nvPicPr>
        <p:blipFill>
          <a:blip r:embed="rId3"/>
          <a:stretch>
            <a:fillRect/>
          </a:stretch>
        </p:blipFill>
        <p:spPr>
          <a:xfrm>
            <a:off x="859536" y="5550407"/>
            <a:ext cx="420624" cy="420624"/>
          </a:xfrm>
          <a:prstGeom prst="rect">
            <a:avLst/>
          </a:prstGeom>
        </p:spPr>
      </p:pic>
      <p:sp>
        <p:nvSpPr>
          <p:cNvPr id="19" name="TextBox 18"/>
          <p:cNvSpPr txBox="1"/>
          <p:nvPr/>
        </p:nvSpPr>
        <p:spPr>
          <a:xfrm>
            <a:off x="1572768" y="5605271"/>
            <a:ext cx="3886200" cy="384048"/>
          </a:xfrm>
          <a:prstGeom prst="rect">
            <a:avLst/>
          </a:prstGeom>
          <a:noFill/>
        </p:spPr>
        <p:txBody>
          <a:bodyPr wrap="square" lIns="0" rIns="0" tIns="0" bIns="0">
            <a:spAutoFit/>
          </a:bodyPr>
          <a:lstStyle/>
          <a:p>
            <a:pPr algn="l">
              <a:lnSpc>
                <a:spcPct val="100000"/>
              </a:lnSpc>
              <a:spcAft>
                <a:spcPts val="0"/>
              </a:spcAft>
            </a:pPr>
            <a:r>
              <a:rPr sz="1500" b="1" i="0">
                <a:solidFill>
                  <a:srgbClr val="9A630F"/>
                </a:solidFill>
                <a:latin typeface="Cambria"/>
              </a:rPr>
              <a:t>Next: add frontend tests</a:t>
            </a:r>
          </a:p>
        </p:txBody>
      </p:sp>
      <p:sp>
        <p:nvSpPr>
          <p:cNvPr id="20" name="Rounded Rectangle 19"/>
          <p:cNvSpPr/>
          <p:nvPr/>
        </p:nvSpPr>
        <p:spPr>
          <a:xfrm>
            <a:off x="5897880" y="1783080"/>
            <a:ext cx="5029200" cy="210312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400"/>
              </a:spcAft>
            </a:pPr>
            <a:r>
              <a:rPr sz="4400" b="1" i="0">
                <a:solidFill>
                  <a:srgbClr val="02C39A"/>
                </a:solidFill>
                <a:latin typeface="Cambria"/>
              </a:rPr>
              <a:t>17 / 17</a:t>
            </a:r>
          </a:p>
          <a:p>
            <a:pPr algn="l">
              <a:spcAft>
                <a:spcPts val="800"/>
              </a:spcAft>
            </a:pPr>
            <a:r>
              <a:rPr sz="1600" b="0" i="0">
                <a:solidFill>
                  <a:srgbClr val="FFFFFF"/>
                </a:solidFill>
                <a:latin typeface="Calibri"/>
              </a:rPr>
              <a:t>tests pass, on every single push</a:t>
            </a:r>
          </a:p>
          <a:p>
            <a:pPr algn="l">
              <a:lnSpc>
                <a:spcPct val="112000"/>
              </a:lnSpc>
              <a:spcAft>
                <a:spcPts val="0"/>
              </a:spcAft>
            </a:pPr>
            <a:r>
              <a:rPr sz="1250" b="0" i="0">
                <a:solidFill>
                  <a:srgbClr val="C5D5E0"/>
                </a:solidFill>
                <a:latin typeface="Calibri"/>
              </a:rPr>
              <a:t>The pipeline is green right now — I can open the Actions tab and show you.</a:t>
            </a:r>
          </a:p>
        </p:txBody>
      </p:sp>
      <p:sp>
        <p:nvSpPr>
          <p:cNvPr id="21" name="Rounded Rectangle 20"/>
          <p:cNvSpPr/>
          <p:nvPr/>
        </p:nvSpPr>
        <p:spPr>
          <a:xfrm>
            <a:off x="5897880" y="4041648"/>
            <a:ext cx="5029200" cy="2203704"/>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700"/>
              </a:spcAft>
            </a:pPr>
            <a:r>
              <a:rPr sz="1350" b="1" i="0">
                <a:solidFill>
                  <a:srgbClr val="065A82"/>
                </a:solidFill>
                <a:latin typeface="Cambria"/>
              </a:rPr>
              <a:t>In one sentence</a:t>
            </a:r>
          </a:p>
          <a:p>
            <a:pPr algn="l">
              <a:lnSpc>
                <a:spcPct val="116000"/>
              </a:lnSpc>
              <a:spcAft>
                <a:spcPts val="800"/>
              </a:spcAft>
            </a:pPr>
            <a:r>
              <a:rPr sz="1500" b="0" i="0">
                <a:solidFill>
                  <a:srgbClr val="1B2233"/>
                </a:solidFill>
                <a:latin typeface="Calibri"/>
              </a:rPr>
              <a:t>“Continuous integration is working. Every push is tested automatically on a real database, and a failing test marks the pull request red so it is not merged.”</a:t>
            </a:r>
          </a:p>
          <a:p>
            <a:pPr algn="l">
              <a:spcAft>
                <a:spcPts val="0"/>
              </a:spcAft>
            </a:pPr>
            <a:r>
              <a:rPr sz="1250" b="0" i="1">
                <a:solidFill>
                  <a:srgbClr val="5C6B7A"/>
                </a:solidFill>
                <a:latin typeface="Calibri"/>
              </a:rPr>
              <a:t>Deployment is the next phase — not part of my task.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