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(about 40 seconds). My part of the project this phase was the CI/CD pipeline. The diagram on the right is the flow: a commit comes in, it gets tested, it gets packaged into a Docker image, and the last step, releasing it to a server, is greyed out because that is the part still waiting. Two pipelines, seven jobs, seventeen tests, two container images — all of it runs by itself on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(about 60 seconds). Top row is CI, and it runs on every single push. Quality checks that no secrets got committed. Tests spin up a real PostgreSQL database and run seventeen tests. Build compiles the production frontend. Image builds both containers. Bottom row is CD, on every merge into main. The gate re-runs all of CI first, publish pushes both images to GitHub's registry tagged with the commit, and release is behind an approval click. The line at the bottom is the point: a failing test turns the pull request red, so broken code cannot be merged.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(about 40 seconds). Three things are live: CI on every push, tests against a real database, and images published on every merge. The fourth is honest — we have no server yet, so the deploy job detects that and skips instead of failing. The diagram shows it: two green, one paused. Finish on the sentence in the box, which is also the answer if you are asked whether we have CI/CD.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95C"/>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02C39A"/>
                </a:solidFill>
                <a:latin typeface="Calibri"/>
              </a:rPr>
              <a:t>C270 DEVOPS ESSENTIALS  ·  HPONE DEPAR</a:t>
            </a:r>
          </a:p>
        </p:txBody>
      </p:sp>
      <p:pic>
        <p:nvPicPr>
          <p:cNvPr id="3" name="Picture 2" descr="hero_pipeline.png"/>
          <p:cNvPicPr>
            <a:picLocks noChangeAspect="1"/>
          </p:cNvPicPr>
          <p:nvPr/>
        </p:nvPicPr>
        <p:blipFill>
          <a:blip r:embed="rId2"/>
          <a:stretch>
            <a:fillRect/>
          </a:stretch>
        </p:blipFill>
        <p:spPr>
          <a:xfrm>
            <a:off x="8183879" y="822960"/>
            <a:ext cx="2859329" cy="5394960"/>
          </a:xfrm>
          <a:prstGeom prst="rect">
            <a:avLst/>
          </a:prstGeom>
        </p:spPr>
      </p:pic>
      <p:sp>
        <p:nvSpPr>
          <p:cNvPr id="4" name="TextBox 3"/>
          <p:cNvSpPr txBox="1"/>
          <p:nvPr/>
        </p:nvSpPr>
        <p:spPr>
          <a:xfrm>
            <a:off x="640080" y="1600200"/>
            <a:ext cx="6949440" cy="2011680"/>
          </a:xfrm>
          <a:prstGeom prst="rect">
            <a:avLst/>
          </a:prstGeom>
          <a:noFill/>
        </p:spPr>
        <p:txBody>
          <a:bodyPr wrap="square" lIns="0" rIns="0" tIns="0" bIns="0">
            <a:spAutoFit/>
          </a:bodyPr>
          <a:lstStyle/>
          <a:p>
            <a:pPr algn="l">
              <a:spcAft>
                <a:spcPts val="200"/>
              </a:spcAft>
            </a:pPr>
            <a:r>
              <a:rPr sz="5600" b="1" i="0">
                <a:solidFill>
                  <a:srgbClr val="FFFFFF"/>
                </a:solidFill>
                <a:latin typeface="Cambria"/>
              </a:rPr>
              <a:t>CI/CD Pipeline</a:t>
            </a:r>
          </a:p>
          <a:p>
            <a:pPr algn="l">
              <a:spcAft>
                <a:spcPts val="0"/>
              </a:spcAft>
            </a:pPr>
            <a:r>
              <a:rPr sz="3000" b="0" i="0">
                <a:solidFill>
                  <a:srgbClr val="9FD9E8"/>
                </a:solidFill>
                <a:latin typeface="Cambria"/>
              </a:rPr>
              <a:t>for NextStep</a:t>
            </a:r>
          </a:p>
        </p:txBody>
      </p:sp>
      <p:sp>
        <p:nvSpPr>
          <p:cNvPr id="5" name="TextBox 4"/>
          <p:cNvSpPr txBox="1"/>
          <p:nvPr/>
        </p:nvSpPr>
        <p:spPr>
          <a:xfrm>
            <a:off x="640080" y="3703320"/>
            <a:ext cx="6766560" cy="868680"/>
          </a:xfrm>
          <a:prstGeom prst="rect">
            <a:avLst/>
          </a:prstGeom>
          <a:noFill/>
        </p:spPr>
        <p:txBody>
          <a:bodyPr wrap="square" lIns="0" rIns="0" tIns="0" bIns="0">
            <a:spAutoFit/>
          </a:bodyPr>
          <a:lstStyle/>
          <a:p>
            <a:pPr algn="l">
              <a:lnSpc>
                <a:spcPct val="110000"/>
              </a:lnSpc>
              <a:spcAft>
                <a:spcPts val="500"/>
              </a:spcAft>
            </a:pPr>
            <a:r>
              <a:rPr sz="2100" b="1" i="0">
                <a:solidFill>
                  <a:srgbClr val="02C39A"/>
                </a:solidFill>
                <a:latin typeface="Calibri"/>
              </a:rPr>
              <a:t>Every commit tested.</a:t>
            </a:r>
          </a:p>
          <a:p>
            <a:pPr algn="l">
              <a:lnSpc>
                <a:spcPct val="110000"/>
              </a:lnSpc>
              <a:spcAft>
                <a:spcPts val="0"/>
              </a:spcAft>
            </a:pPr>
            <a:r>
              <a:rPr sz="2100" b="1" i="0">
                <a:solidFill>
                  <a:srgbClr val="02C39A"/>
                </a:solidFill>
                <a:latin typeface="Calibri"/>
              </a:rPr>
              <a:t>Every merge packaged.</a:t>
            </a:r>
          </a:p>
        </p:txBody>
      </p:sp>
      <p:sp>
        <p:nvSpPr>
          <p:cNvPr id="6" name="Rounded Rectangle 5"/>
          <p:cNvSpPr/>
          <p:nvPr/>
        </p:nvSpPr>
        <p:spPr>
          <a:xfrm>
            <a:off x="640080"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2</a:t>
            </a:r>
          </a:p>
          <a:p>
            <a:pPr algn="l">
              <a:spcAft>
                <a:spcPts val="0"/>
              </a:spcAft>
            </a:pPr>
            <a:r>
              <a:rPr sz="1150" b="0" i="0">
                <a:solidFill>
                  <a:srgbClr val="C5D5E0"/>
                </a:solidFill>
                <a:latin typeface="Calibri"/>
              </a:rPr>
              <a:t>pipelines</a:t>
            </a:r>
          </a:p>
        </p:txBody>
      </p:sp>
      <p:sp>
        <p:nvSpPr>
          <p:cNvPr id="7" name="Rounded Rectangle 6"/>
          <p:cNvSpPr/>
          <p:nvPr/>
        </p:nvSpPr>
        <p:spPr>
          <a:xfrm>
            <a:off x="2350008"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7</a:t>
            </a:r>
          </a:p>
          <a:p>
            <a:pPr algn="l">
              <a:spcAft>
                <a:spcPts val="0"/>
              </a:spcAft>
            </a:pPr>
            <a:r>
              <a:rPr sz="1150" b="0" i="0">
                <a:solidFill>
                  <a:srgbClr val="C5D5E0"/>
                </a:solidFill>
                <a:latin typeface="Calibri"/>
              </a:rPr>
              <a:t>jobs</a:t>
            </a:r>
          </a:p>
        </p:txBody>
      </p:sp>
      <p:sp>
        <p:nvSpPr>
          <p:cNvPr id="8" name="Rounded Rectangle 7"/>
          <p:cNvSpPr/>
          <p:nvPr/>
        </p:nvSpPr>
        <p:spPr>
          <a:xfrm>
            <a:off x="4059936"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17</a:t>
            </a:r>
          </a:p>
          <a:p>
            <a:pPr algn="l">
              <a:spcAft>
                <a:spcPts val="0"/>
              </a:spcAft>
            </a:pPr>
            <a:r>
              <a:rPr sz="1150" b="0" i="0">
                <a:solidFill>
                  <a:srgbClr val="C5D5E0"/>
                </a:solidFill>
                <a:latin typeface="Calibri"/>
              </a:rPr>
              <a:t>tests</a:t>
            </a:r>
          </a:p>
        </p:txBody>
      </p:sp>
      <p:sp>
        <p:nvSpPr>
          <p:cNvPr id="9" name="Rounded Rectangle 8"/>
          <p:cNvSpPr/>
          <p:nvPr/>
        </p:nvSpPr>
        <p:spPr>
          <a:xfrm>
            <a:off x="5769864" y="4892040"/>
            <a:ext cx="1572768" cy="960120"/>
          </a:xfrm>
          <a:prstGeom prst="roundRect">
            <a:avLst>
              <a:gd name="adj" fmla="val 6000"/>
            </a:avLst>
          </a:prstGeom>
          <a:solidFill>
            <a:srgbClr val="2E39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37160" bIns="137160"/>
          <a:lstStyle/>
          <a:p>
            <a:pPr algn="l">
              <a:spcAft>
                <a:spcPts val="0"/>
              </a:spcAft>
            </a:pPr>
            <a:r>
              <a:rPr sz="2600" b="1" i="0">
                <a:solidFill>
                  <a:srgbClr val="02C39A"/>
                </a:solidFill>
                <a:latin typeface="Cambria"/>
              </a:rPr>
              <a:t>2</a:t>
            </a:r>
          </a:p>
          <a:p>
            <a:pPr algn="l">
              <a:spcAft>
                <a:spcPts val="0"/>
              </a:spcAft>
            </a:pPr>
            <a:r>
              <a:rPr sz="1150" b="0" i="0">
                <a:solidFill>
                  <a:srgbClr val="C5D5E0"/>
                </a:solidFill>
                <a:latin typeface="Calibri"/>
              </a:rPr>
              <a:t>images</a:t>
            </a:r>
          </a:p>
        </p:txBody>
      </p:sp>
      <p:sp>
        <p:nvSpPr>
          <p:cNvPr id="10" name="TextBox 9"/>
          <p:cNvSpPr txBox="1"/>
          <p:nvPr/>
        </p:nvSpPr>
        <p:spPr>
          <a:xfrm>
            <a:off x="640080" y="6126480"/>
            <a:ext cx="6949440" cy="274320"/>
          </a:xfrm>
          <a:prstGeom prst="rect">
            <a:avLst/>
          </a:prstGeom>
          <a:noFill/>
        </p:spPr>
        <p:txBody>
          <a:bodyPr wrap="square" lIns="0" rIns="0" tIns="0" bIns="0">
            <a:spAutoFit/>
          </a:bodyPr>
          <a:lstStyle/>
          <a:p>
            <a:pPr algn="l">
              <a:spcAft>
                <a:spcPts val="0"/>
              </a:spcAft>
            </a:pPr>
            <a:r>
              <a:rPr sz="1200" b="1" i="0">
                <a:solidFill>
                  <a:srgbClr val="8CA3B8"/>
                </a:solidFill>
                <a:latin typeface="Calibri"/>
              </a:rPr>
              <a:t>GitHub Actions  ·  Docker  ·  GHCR  ·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1C7293"/>
                </a:solidFill>
                <a:latin typeface="Calibri"/>
              </a:rPr>
              <a:t>HOW IT WORKS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Aft>
                <a:spcPts val="0"/>
              </a:spcAft>
            </a:pPr>
            <a:r>
              <a:rPr sz="3400" b="1" i="0">
                <a:solidFill>
                  <a:srgbClr val="065A82"/>
                </a:solidFill>
                <a:latin typeface="Cambria"/>
              </a:rPr>
              <a:t>Seven automated jobs, no manual steps</a:t>
            </a:r>
          </a:p>
        </p:txBody>
      </p:sp>
      <p:sp>
        <p:nvSpPr>
          <p:cNvPr id="4" name="TextBox 3"/>
          <p:cNvSpPr txBox="1"/>
          <p:nvPr/>
        </p:nvSpPr>
        <p:spPr>
          <a:xfrm>
            <a:off x="640080" y="1060704"/>
            <a:ext cx="10545775" cy="365760"/>
          </a:xfrm>
          <a:prstGeom prst="rect">
            <a:avLst/>
          </a:prstGeom>
          <a:noFill/>
        </p:spPr>
        <p:txBody>
          <a:bodyPr wrap="square" lIns="0" rIns="0" tIns="0" bIns="0">
            <a:spAutoFit/>
          </a:bodyPr>
          <a:lstStyle/>
          <a:p>
            <a:pPr algn="l">
              <a:spcAft>
                <a:spcPts val="0"/>
              </a:spcAft>
            </a:pPr>
            <a:r>
              <a:rPr sz="1500" b="0" i="0">
                <a:solidFill>
                  <a:srgbClr val="5C6B7A"/>
                </a:solidFill>
                <a:latin typeface="Calibri"/>
              </a:rPr>
              <a:t>Two pipelines: one verifies the code, one ships it.</a:t>
            </a:r>
          </a:p>
        </p:txBody>
      </p:sp>
      <p:sp>
        <p:nvSpPr>
          <p:cNvPr id="5" name="TextBox 4"/>
          <p:cNvSpPr txBox="1"/>
          <p:nvPr/>
        </p:nvSpPr>
        <p:spPr>
          <a:xfrm>
            <a:off x="640080" y="1664208"/>
            <a:ext cx="6400800" cy="274320"/>
          </a:xfrm>
          <a:prstGeom prst="rect">
            <a:avLst/>
          </a:prstGeom>
          <a:noFill/>
        </p:spPr>
        <p:txBody>
          <a:bodyPr wrap="square" lIns="0" rIns="0" tIns="0" bIns="0">
            <a:spAutoFit/>
          </a:bodyPr>
          <a:lstStyle/>
          <a:p>
            <a:pPr algn="l">
              <a:spcAft>
                <a:spcPts val="0"/>
              </a:spcAft>
            </a:pPr>
            <a:r>
              <a:rPr sz="1500" b="1" i="0">
                <a:solidFill>
                  <a:srgbClr val="065A82"/>
                </a:solidFill>
                <a:latin typeface="Cambria"/>
              </a:rPr>
              <a:t>CI  —  on every push</a:t>
            </a:r>
          </a:p>
        </p:txBody>
      </p:sp>
      <p:sp>
        <p:nvSpPr>
          <p:cNvPr id="6" name="Rounded Rectangle 5"/>
          <p:cNvSpPr/>
          <p:nvPr/>
        </p:nvSpPr>
        <p:spPr>
          <a:xfrm>
            <a:off x="640080" y="2048256"/>
            <a:ext cx="2478024"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7" name="Picture 6" descr="d_quality.png"/>
          <p:cNvPicPr>
            <a:picLocks noChangeAspect="1"/>
          </p:cNvPicPr>
          <p:nvPr/>
        </p:nvPicPr>
        <p:blipFill>
          <a:blip r:embed="rId2"/>
          <a:stretch>
            <a:fillRect/>
          </a:stretch>
        </p:blipFill>
        <p:spPr>
          <a:xfrm>
            <a:off x="859536" y="2231136"/>
            <a:ext cx="566928" cy="566928"/>
          </a:xfrm>
          <a:prstGeom prst="rect">
            <a:avLst/>
          </a:prstGeom>
        </p:spPr>
      </p:pic>
      <p:sp>
        <p:nvSpPr>
          <p:cNvPr id="8" name="TextBox 7"/>
          <p:cNvSpPr txBox="1"/>
          <p:nvPr/>
        </p:nvSpPr>
        <p:spPr>
          <a:xfrm>
            <a:off x="1554480" y="2395728"/>
            <a:ext cx="1380744" cy="365760"/>
          </a:xfrm>
          <a:prstGeom prst="rect">
            <a:avLst/>
          </a:prstGeom>
          <a:noFill/>
        </p:spPr>
        <p:txBody>
          <a:bodyPr wrap="square" lIns="0" rIns="0" tIns="0" bIns="0">
            <a:spAutoFit/>
          </a:bodyPr>
          <a:lstStyle/>
          <a:p>
            <a:pPr algn="l">
              <a:spcAft>
                <a:spcPts val="0"/>
              </a:spcAft>
            </a:pPr>
            <a:r>
              <a:rPr sz="1700" b="1" i="0">
                <a:solidFill>
                  <a:srgbClr val="065A82"/>
                </a:solidFill>
                <a:latin typeface="Cambria"/>
              </a:rPr>
              <a:t>Quality</a:t>
            </a:r>
          </a:p>
        </p:txBody>
      </p:sp>
      <p:sp>
        <p:nvSpPr>
          <p:cNvPr id="9" name="TextBox 8"/>
          <p:cNvSpPr txBox="1"/>
          <p:nvPr/>
        </p:nvSpPr>
        <p:spPr>
          <a:xfrm>
            <a:off x="859536" y="2944368"/>
            <a:ext cx="2039112" cy="365760"/>
          </a:xfrm>
          <a:prstGeom prst="rect">
            <a:avLst/>
          </a:prstGeom>
          <a:noFill/>
        </p:spPr>
        <p:txBody>
          <a:bodyPr wrap="square" lIns="0" rIns="0" tIns="0" bIns="0">
            <a:spAutoFit/>
          </a:bodyPr>
          <a:lstStyle/>
          <a:p>
            <a:pPr algn="l">
              <a:lnSpc>
                <a:spcPct val="105000"/>
              </a:lnSpc>
              <a:spcAft>
                <a:spcPts val="0"/>
              </a:spcAft>
            </a:pPr>
            <a:r>
              <a:rPr sz="1150" b="0" i="0">
                <a:solidFill>
                  <a:srgbClr val="5C6B7A"/>
                </a:solidFill>
                <a:latin typeface="Calibri"/>
              </a:rPr>
              <a:t>no secrets committed</a:t>
            </a:r>
          </a:p>
        </p:txBody>
      </p:sp>
      <p:sp>
        <p:nvSpPr>
          <p:cNvPr id="10" name="Right Arrow 9"/>
          <p:cNvSpPr/>
          <p:nvPr/>
        </p:nvSpPr>
        <p:spPr>
          <a:xfrm>
            <a:off x="3145536" y="2615184"/>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47287" y="2048256"/>
            <a:ext cx="2478024"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2" name="Picture 11" descr="d_database.png"/>
          <p:cNvPicPr>
            <a:picLocks noChangeAspect="1"/>
          </p:cNvPicPr>
          <p:nvPr/>
        </p:nvPicPr>
        <p:blipFill>
          <a:blip r:embed="rId3"/>
          <a:stretch>
            <a:fillRect/>
          </a:stretch>
        </p:blipFill>
        <p:spPr>
          <a:xfrm>
            <a:off x="3666744" y="2231136"/>
            <a:ext cx="566928" cy="566928"/>
          </a:xfrm>
          <a:prstGeom prst="rect">
            <a:avLst/>
          </a:prstGeom>
        </p:spPr>
      </p:pic>
      <p:sp>
        <p:nvSpPr>
          <p:cNvPr id="13" name="TextBox 12"/>
          <p:cNvSpPr txBox="1"/>
          <p:nvPr/>
        </p:nvSpPr>
        <p:spPr>
          <a:xfrm>
            <a:off x="4361688" y="2395728"/>
            <a:ext cx="1380744" cy="365760"/>
          </a:xfrm>
          <a:prstGeom prst="rect">
            <a:avLst/>
          </a:prstGeom>
          <a:noFill/>
        </p:spPr>
        <p:txBody>
          <a:bodyPr wrap="square" lIns="0" rIns="0" tIns="0" bIns="0">
            <a:spAutoFit/>
          </a:bodyPr>
          <a:lstStyle/>
          <a:p>
            <a:pPr algn="l">
              <a:spcAft>
                <a:spcPts val="0"/>
              </a:spcAft>
            </a:pPr>
            <a:r>
              <a:rPr sz="1700" b="1" i="0">
                <a:solidFill>
                  <a:srgbClr val="065A82"/>
                </a:solidFill>
                <a:latin typeface="Cambria"/>
              </a:rPr>
              <a:t>Tests</a:t>
            </a:r>
          </a:p>
        </p:txBody>
      </p:sp>
      <p:sp>
        <p:nvSpPr>
          <p:cNvPr id="14" name="TextBox 13"/>
          <p:cNvSpPr txBox="1"/>
          <p:nvPr/>
        </p:nvSpPr>
        <p:spPr>
          <a:xfrm>
            <a:off x="3666744" y="2944368"/>
            <a:ext cx="2039112" cy="365760"/>
          </a:xfrm>
          <a:prstGeom prst="rect">
            <a:avLst/>
          </a:prstGeom>
          <a:noFill/>
        </p:spPr>
        <p:txBody>
          <a:bodyPr wrap="square" lIns="0" rIns="0" tIns="0" bIns="0">
            <a:spAutoFit/>
          </a:bodyPr>
          <a:lstStyle/>
          <a:p>
            <a:pPr algn="l">
              <a:lnSpc>
                <a:spcPct val="105000"/>
              </a:lnSpc>
              <a:spcAft>
                <a:spcPts val="0"/>
              </a:spcAft>
            </a:pPr>
            <a:r>
              <a:rPr sz="1150" b="0" i="0">
                <a:solidFill>
                  <a:srgbClr val="5C6B7A"/>
                </a:solidFill>
                <a:latin typeface="Calibri"/>
              </a:rPr>
              <a:t>real PostgreSQL, 17 tests</a:t>
            </a:r>
          </a:p>
        </p:txBody>
      </p:sp>
      <p:sp>
        <p:nvSpPr>
          <p:cNvPr id="15" name="Right Arrow 14"/>
          <p:cNvSpPr/>
          <p:nvPr/>
        </p:nvSpPr>
        <p:spPr>
          <a:xfrm>
            <a:off x="5952744" y="2615184"/>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54496" y="2048256"/>
            <a:ext cx="2478024"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7" name="Picture 16" descr="d_build.png"/>
          <p:cNvPicPr>
            <a:picLocks noChangeAspect="1"/>
          </p:cNvPicPr>
          <p:nvPr/>
        </p:nvPicPr>
        <p:blipFill>
          <a:blip r:embed="rId4"/>
          <a:stretch>
            <a:fillRect/>
          </a:stretch>
        </p:blipFill>
        <p:spPr>
          <a:xfrm>
            <a:off x="6473952" y="2231136"/>
            <a:ext cx="566928" cy="566928"/>
          </a:xfrm>
          <a:prstGeom prst="rect">
            <a:avLst/>
          </a:prstGeom>
        </p:spPr>
      </p:pic>
      <p:sp>
        <p:nvSpPr>
          <p:cNvPr id="18" name="TextBox 17"/>
          <p:cNvSpPr txBox="1"/>
          <p:nvPr/>
        </p:nvSpPr>
        <p:spPr>
          <a:xfrm>
            <a:off x="7168896" y="2395728"/>
            <a:ext cx="1380744" cy="365760"/>
          </a:xfrm>
          <a:prstGeom prst="rect">
            <a:avLst/>
          </a:prstGeom>
          <a:noFill/>
        </p:spPr>
        <p:txBody>
          <a:bodyPr wrap="square" lIns="0" rIns="0" tIns="0" bIns="0">
            <a:spAutoFit/>
          </a:bodyPr>
          <a:lstStyle/>
          <a:p>
            <a:pPr algn="l">
              <a:spcAft>
                <a:spcPts val="0"/>
              </a:spcAft>
            </a:pPr>
            <a:r>
              <a:rPr sz="1700" b="1" i="0">
                <a:solidFill>
                  <a:srgbClr val="065A82"/>
                </a:solidFill>
                <a:latin typeface="Cambria"/>
              </a:rPr>
              <a:t>Build</a:t>
            </a:r>
          </a:p>
        </p:txBody>
      </p:sp>
      <p:sp>
        <p:nvSpPr>
          <p:cNvPr id="19" name="TextBox 18"/>
          <p:cNvSpPr txBox="1"/>
          <p:nvPr/>
        </p:nvSpPr>
        <p:spPr>
          <a:xfrm>
            <a:off x="6473952" y="2944368"/>
            <a:ext cx="2039112" cy="365760"/>
          </a:xfrm>
          <a:prstGeom prst="rect">
            <a:avLst/>
          </a:prstGeom>
          <a:noFill/>
        </p:spPr>
        <p:txBody>
          <a:bodyPr wrap="square" lIns="0" rIns="0" tIns="0" bIns="0">
            <a:spAutoFit/>
          </a:bodyPr>
          <a:lstStyle/>
          <a:p>
            <a:pPr algn="l">
              <a:lnSpc>
                <a:spcPct val="105000"/>
              </a:lnSpc>
              <a:spcAft>
                <a:spcPts val="0"/>
              </a:spcAft>
            </a:pPr>
            <a:r>
              <a:rPr sz="1150" b="0" i="0">
                <a:solidFill>
                  <a:srgbClr val="5C6B7A"/>
                </a:solidFill>
                <a:latin typeface="Calibri"/>
              </a:rPr>
              <a:t>production build</a:t>
            </a:r>
          </a:p>
        </p:txBody>
      </p:sp>
      <p:sp>
        <p:nvSpPr>
          <p:cNvPr id="20" name="Right Arrow 19"/>
          <p:cNvSpPr/>
          <p:nvPr/>
        </p:nvSpPr>
        <p:spPr>
          <a:xfrm>
            <a:off x="8759952" y="2615184"/>
            <a:ext cx="274320" cy="237744"/>
          </a:xfrm>
          <a:prstGeom prst="rightArrow">
            <a:avLst/>
          </a:prstGeom>
          <a:solidFill>
            <a:srgbClr val="B6C7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61704" y="2048256"/>
            <a:ext cx="2478024" cy="1371600"/>
          </a:xfrm>
          <a:prstGeom prst="roundRect">
            <a:avLst>
              <a:gd name="adj" fmla="val 6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22" name="Picture 21" descr="d_container.png"/>
          <p:cNvPicPr>
            <a:picLocks noChangeAspect="1"/>
          </p:cNvPicPr>
          <p:nvPr/>
        </p:nvPicPr>
        <p:blipFill>
          <a:blip r:embed="rId5"/>
          <a:stretch>
            <a:fillRect/>
          </a:stretch>
        </p:blipFill>
        <p:spPr>
          <a:xfrm>
            <a:off x="9281160" y="2231136"/>
            <a:ext cx="566928" cy="566928"/>
          </a:xfrm>
          <a:prstGeom prst="rect">
            <a:avLst/>
          </a:prstGeom>
        </p:spPr>
      </p:pic>
      <p:sp>
        <p:nvSpPr>
          <p:cNvPr id="23" name="TextBox 22"/>
          <p:cNvSpPr txBox="1"/>
          <p:nvPr/>
        </p:nvSpPr>
        <p:spPr>
          <a:xfrm>
            <a:off x="9976104" y="2395728"/>
            <a:ext cx="1380744" cy="365760"/>
          </a:xfrm>
          <a:prstGeom prst="rect">
            <a:avLst/>
          </a:prstGeom>
          <a:noFill/>
        </p:spPr>
        <p:txBody>
          <a:bodyPr wrap="square" lIns="0" rIns="0" tIns="0" bIns="0">
            <a:spAutoFit/>
          </a:bodyPr>
          <a:lstStyle/>
          <a:p>
            <a:pPr algn="l">
              <a:spcAft>
                <a:spcPts val="0"/>
              </a:spcAft>
            </a:pPr>
            <a:r>
              <a:rPr sz="1700" b="1" i="0">
                <a:solidFill>
                  <a:srgbClr val="065A82"/>
                </a:solidFill>
                <a:latin typeface="Cambria"/>
              </a:rPr>
              <a:t>Image</a:t>
            </a:r>
          </a:p>
        </p:txBody>
      </p:sp>
      <p:sp>
        <p:nvSpPr>
          <p:cNvPr id="24" name="TextBox 23"/>
          <p:cNvSpPr txBox="1"/>
          <p:nvPr/>
        </p:nvSpPr>
        <p:spPr>
          <a:xfrm>
            <a:off x="9281160" y="2944368"/>
            <a:ext cx="2039112" cy="365760"/>
          </a:xfrm>
          <a:prstGeom prst="rect">
            <a:avLst/>
          </a:prstGeom>
          <a:noFill/>
        </p:spPr>
        <p:txBody>
          <a:bodyPr wrap="square" lIns="0" rIns="0" tIns="0" bIns="0">
            <a:spAutoFit/>
          </a:bodyPr>
          <a:lstStyle/>
          <a:p>
            <a:pPr algn="l">
              <a:lnSpc>
                <a:spcPct val="105000"/>
              </a:lnSpc>
              <a:spcAft>
                <a:spcPts val="0"/>
              </a:spcAft>
            </a:pPr>
            <a:r>
              <a:rPr sz="1150" b="0" i="0">
                <a:solidFill>
                  <a:srgbClr val="5C6B7A"/>
                </a:solidFill>
                <a:latin typeface="Calibri"/>
              </a:rPr>
              <a:t>both containers</a:t>
            </a:r>
          </a:p>
        </p:txBody>
      </p:sp>
      <p:sp>
        <p:nvSpPr>
          <p:cNvPr id="25" name="TextBox 24"/>
          <p:cNvSpPr txBox="1"/>
          <p:nvPr/>
        </p:nvSpPr>
        <p:spPr>
          <a:xfrm>
            <a:off x="640080" y="3913632"/>
            <a:ext cx="7315200" cy="274320"/>
          </a:xfrm>
          <a:prstGeom prst="rect">
            <a:avLst/>
          </a:prstGeom>
          <a:noFill/>
        </p:spPr>
        <p:txBody>
          <a:bodyPr wrap="square" lIns="0" rIns="0" tIns="0" bIns="0">
            <a:spAutoFit/>
          </a:bodyPr>
          <a:lstStyle/>
          <a:p>
            <a:pPr algn="l">
              <a:spcAft>
                <a:spcPts val="0"/>
              </a:spcAft>
            </a:pPr>
            <a:r>
              <a:rPr sz="1500" b="1" i="0">
                <a:solidFill>
                  <a:srgbClr val="065A82"/>
                </a:solidFill>
                <a:latin typeface="Cambria"/>
              </a:rPr>
              <a:t>CD  —  on every merge into main</a:t>
            </a:r>
          </a:p>
        </p:txBody>
      </p:sp>
      <p:sp>
        <p:nvSpPr>
          <p:cNvPr id="26" name="Rounded Rectangle 25"/>
          <p:cNvSpPr/>
          <p:nvPr/>
        </p:nvSpPr>
        <p:spPr>
          <a:xfrm>
            <a:off x="640080" y="4297680"/>
            <a:ext cx="3364992" cy="137160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27" name="Picture 26" descr="i_gate.png"/>
          <p:cNvPicPr>
            <a:picLocks noChangeAspect="1"/>
          </p:cNvPicPr>
          <p:nvPr/>
        </p:nvPicPr>
        <p:blipFill>
          <a:blip r:embed="rId6"/>
          <a:stretch>
            <a:fillRect/>
          </a:stretch>
        </p:blipFill>
        <p:spPr>
          <a:xfrm>
            <a:off x="877824" y="4480560"/>
            <a:ext cx="566928" cy="566928"/>
          </a:xfrm>
          <a:prstGeom prst="rect">
            <a:avLst/>
          </a:prstGeom>
        </p:spPr>
      </p:pic>
      <p:sp>
        <p:nvSpPr>
          <p:cNvPr id="28" name="TextBox 27"/>
          <p:cNvSpPr txBox="1"/>
          <p:nvPr/>
        </p:nvSpPr>
        <p:spPr>
          <a:xfrm>
            <a:off x="1600200" y="4645152"/>
            <a:ext cx="2221992" cy="365760"/>
          </a:xfrm>
          <a:prstGeom prst="rect">
            <a:avLst/>
          </a:prstGeom>
          <a:noFill/>
        </p:spPr>
        <p:txBody>
          <a:bodyPr wrap="square" lIns="0" rIns="0" tIns="0" bIns="0">
            <a:spAutoFit/>
          </a:bodyPr>
          <a:lstStyle/>
          <a:p>
            <a:pPr algn="l">
              <a:spcAft>
                <a:spcPts val="0"/>
              </a:spcAft>
            </a:pPr>
            <a:r>
              <a:rPr sz="1700" b="1" i="0">
                <a:solidFill>
                  <a:srgbClr val="FFFFFF"/>
                </a:solidFill>
                <a:latin typeface="Cambria"/>
              </a:rPr>
              <a:t>Gate</a:t>
            </a:r>
          </a:p>
        </p:txBody>
      </p:sp>
      <p:sp>
        <p:nvSpPr>
          <p:cNvPr id="29" name="TextBox 28"/>
          <p:cNvSpPr txBox="1"/>
          <p:nvPr/>
        </p:nvSpPr>
        <p:spPr>
          <a:xfrm>
            <a:off x="877824" y="5193792"/>
            <a:ext cx="2889504" cy="365760"/>
          </a:xfrm>
          <a:prstGeom prst="rect">
            <a:avLst/>
          </a:prstGeom>
          <a:noFill/>
        </p:spPr>
        <p:txBody>
          <a:bodyPr wrap="square" lIns="0" rIns="0" tIns="0" bIns="0">
            <a:spAutoFit/>
          </a:bodyPr>
          <a:lstStyle/>
          <a:p>
            <a:pPr algn="l">
              <a:lnSpc>
                <a:spcPct val="105000"/>
              </a:lnSpc>
              <a:spcAft>
                <a:spcPts val="0"/>
              </a:spcAft>
            </a:pPr>
            <a:r>
              <a:rPr sz="1150" b="0" i="0">
                <a:solidFill>
                  <a:srgbClr val="C5D5E0"/>
                </a:solidFill>
                <a:latin typeface="Calibri"/>
              </a:rPr>
              <a:t>CI must pass first</a:t>
            </a:r>
          </a:p>
        </p:txBody>
      </p:sp>
      <p:sp>
        <p:nvSpPr>
          <p:cNvPr id="30" name="Right Arrow 29"/>
          <p:cNvSpPr/>
          <p:nvPr/>
        </p:nvSpPr>
        <p:spPr>
          <a:xfrm>
            <a:off x="4059935" y="4864608"/>
            <a:ext cx="27432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07408" y="4297680"/>
            <a:ext cx="3364992" cy="137160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32" name="Picture 31" descr="i_publish.png"/>
          <p:cNvPicPr>
            <a:picLocks noChangeAspect="1"/>
          </p:cNvPicPr>
          <p:nvPr/>
        </p:nvPicPr>
        <p:blipFill>
          <a:blip r:embed="rId7"/>
          <a:stretch>
            <a:fillRect/>
          </a:stretch>
        </p:blipFill>
        <p:spPr>
          <a:xfrm>
            <a:off x="4645152" y="4480560"/>
            <a:ext cx="566928" cy="566928"/>
          </a:xfrm>
          <a:prstGeom prst="rect">
            <a:avLst/>
          </a:prstGeom>
        </p:spPr>
      </p:pic>
      <p:sp>
        <p:nvSpPr>
          <p:cNvPr id="33" name="TextBox 32"/>
          <p:cNvSpPr txBox="1"/>
          <p:nvPr/>
        </p:nvSpPr>
        <p:spPr>
          <a:xfrm>
            <a:off x="5367528" y="4645152"/>
            <a:ext cx="2221992" cy="365760"/>
          </a:xfrm>
          <a:prstGeom prst="rect">
            <a:avLst/>
          </a:prstGeom>
          <a:noFill/>
        </p:spPr>
        <p:txBody>
          <a:bodyPr wrap="square" lIns="0" rIns="0" tIns="0" bIns="0">
            <a:spAutoFit/>
          </a:bodyPr>
          <a:lstStyle/>
          <a:p>
            <a:pPr algn="l">
              <a:spcAft>
                <a:spcPts val="0"/>
              </a:spcAft>
            </a:pPr>
            <a:r>
              <a:rPr sz="1700" b="1" i="0">
                <a:solidFill>
                  <a:srgbClr val="FFFFFF"/>
                </a:solidFill>
                <a:latin typeface="Cambria"/>
              </a:rPr>
              <a:t>Publish</a:t>
            </a:r>
          </a:p>
        </p:txBody>
      </p:sp>
      <p:sp>
        <p:nvSpPr>
          <p:cNvPr id="34" name="TextBox 33"/>
          <p:cNvSpPr txBox="1"/>
          <p:nvPr/>
        </p:nvSpPr>
        <p:spPr>
          <a:xfrm>
            <a:off x="4645152" y="5193792"/>
            <a:ext cx="2889504" cy="365760"/>
          </a:xfrm>
          <a:prstGeom prst="rect">
            <a:avLst/>
          </a:prstGeom>
          <a:noFill/>
        </p:spPr>
        <p:txBody>
          <a:bodyPr wrap="square" lIns="0" rIns="0" tIns="0" bIns="0">
            <a:spAutoFit/>
          </a:bodyPr>
          <a:lstStyle/>
          <a:p>
            <a:pPr algn="l">
              <a:lnSpc>
                <a:spcPct val="105000"/>
              </a:lnSpc>
              <a:spcAft>
                <a:spcPts val="0"/>
              </a:spcAft>
            </a:pPr>
            <a:r>
              <a:rPr sz="1150" b="0" i="0">
                <a:solidFill>
                  <a:srgbClr val="C5D5E0"/>
                </a:solidFill>
                <a:latin typeface="Calibri"/>
              </a:rPr>
              <a:t>images to GHCR, tagged</a:t>
            </a:r>
          </a:p>
        </p:txBody>
      </p:sp>
      <p:sp>
        <p:nvSpPr>
          <p:cNvPr id="35" name="Right Arrow 34"/>
          <p:cNvSpPr/>
          <p:nvPr/>
        </p:nvSpPr>
        <p:spPr>
          <a:xfrm>
            <a:off x="7827264" y="4864608"/>
            <a:ext cx="274320" cy="237744"/>
          </a:xfrm>
          <a:prstGeom prst="rightArrow">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174736" y="4297680"/>
            <a:ext cx="3364992" cy="1371600"/>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37" name="Picture 36" descr="i_deploy.png"/>
          <p:cNvPicPr>
            <a:picLocks noChangeAspect="1"/>
          </p:cNvPicPr>
          <p:nvPr/>
        </p:nvPicPr>
        <p:blipFill>
          <a:blip r:embed="rId8"/>
          <a:stretch>
            <a:fillRect/>
          </a:stretch>
        </p:blipFill>
        <p:spPr>
          <a:xfrm>
            <a:off x="8412480" y="4480560"/>
            <a:ext cx="566928" cy="566928"/>
          </a:xfrm>
          <a:prstGeom prst="rect">
            <a:avLst/>
          </a:prstGeom>
        </p:spPr>
      </p:pic>
      <p:sp>
        <p:nvSpPr>
          <p:cNvPr id="38" name="TextBox 37"/>
          <p:cNvSpPr txBox="1"/>
          <p:nvPr/>
        </p:nvSpPr>
        <p:spPr>
          <a:xfrm>
            <a:off x="9134856" y="4645152"/>
            <a:ext cx="2221992" cy="365760"/>
          </a:xfrm>
          <a:prstGeom prst="rect">
            <a:avLst/>
          </a:prstGeom>
          <a:noFill/>
        </p:spPr>
        <p:txBody>
          <a:bodyPr wrap="square" lIns="0" rIns="0" tIns="0" bIns="0">
            <a:spAutoFit/>
          </a:bodyPr>
          <a:lstStyle/>
          <a:p>
            <a:pPr algn="l">
              <a:spcAft>
                <a:spcPts val="0"/>
              </a:spcAft>
            </a:pPr>
            <a:r>
              <a:rPr sz="1700" b="1" i="0">
                <a:solidFill>
                  <a:srgbClr val="FFFFFF"/>
                </a:solidFill>
                <a:latin typeface="Cambria"/>
              </a:rPr>
              <a:t>Release</a:t>
            </a:r>
          </a:p>
        </p:txBody>
      </p:sp>
      <p:sp>
        <p:nvSpPr>
          <p:cNvPr id="39" name="TextBox 38"/>
          <p:cNvSpPr txBox="1"/>
          <p:nvPr/>
        </p:nvSpPr>
        <p:spPr>
          <a:xfrm>
            <a:off x="8412480" y="5193792"/>
            <a:ext cx="2889504" cy="365760"/>
          </a:xfrm>
          <a:prstGeom prst="rect">
            <a:avLst/>
          </a:prstGeom>
          <a:noFill/>
        </p:spPr>
        <p:txBody>
          <a:bodyPr wrap="square" lIns="0" rIns="0" tIns="0" bIns="0">
            <a:spAutoFit/>
          </a:bodyPr>
          <a:lstStyle/>
          <a:p>
            <a:pPr algn="l">
              <a:lnSpc>
                <a:spcPct val="105000"/>
              </a:lnSpc>
              <a:spcAft>
                <a:spcPts val="0"/>
              </a:spcAft>
            </a:pPr>
            <a:r>
              <a:rPr sz="1150" b="0" i="0">
                <a:solidFill>
                  <a:srgbClr val="C5D5E0"/>
                </a:solidFill>
                <a:latin typeface="Calibri"/>
              </a:rPr>
              <a:t>approval required</a:t>
            </a:r>
          </a:p>
        </p:txBody>
      </p:sp>
      <p:sp>
        <p:nvSpPr>
          <p:cNvPr id="40" name="TextBox 39"/>
          <p:cNvSpPr txBox="1"/>
          <p:nvPr/>
        </p:nvSpPr>
        <p:spPr>
          <a:xfrm>
            <a:off x="640080" y="5943600"/>
            <a:ext cx="10881360" cy="274320"/>
          </a:xfrm>
          <a:prstGeom prst="rect">
            <a:avLst/>
          </a:prstGeom>
          <a:noFill/>
        </p:spPr>
        <p:txBody>
          <a:bodyPr wrap="square" lIns="0" rIns="0" tIns="0" bIns="0">
            <a:spAutoFit/>
          </a:bodyPr>
          <a:lstStyle/>
          <a:p>
            <a:pPr algn="l">
              <a:spcAft>
                <a:spcPts val="0"/>
              </a:spcAft>
            </a:pPr>
            <a:r>
              <a:rPr sz="1300" b="0" i="1">
                <a:solidFill>
                  <a:srgbClr val="5C6B7A"/>
                </a:solidFill>
                <a:latin typeface="Calibri"/>
              </a:rPr>
              <a:t>A failing test turns the pull request red — it cannot be merged.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256032"/>
            <a:ext cx="6858000" cy="219456"/>
          </a:xfrm>
          <a:prstGeom prst="rect">
            <a:avLst/>
          </a:prstGeom>
          <a:noFill/>
        </p:spPr>
        <p:txBody>
          <a:bodyPr wrap="square" lIns="0" rIns="0" tIns="0" bIns="0">
            <a:spAutoFit/>
          </a:bodyPr>
          <a:lstStyle/>
          <a:p>
            <a:pPr algn="l">
              <a:spcAft>
                <a:spcPts val="0"/>
              </a:spcAft>
            </a:pPr>
            <a:r>
              <a:rPr sz="1100" b="1" i="0" spc="160">
                <a:solidFill>
                  <a:srgbClr val="1C7293"/>
                </a:solidFill>
                <a:latin typeface="Calibri"/>
              </a:rPr>
              <a:t>WHERE IT STANDS</a:t>
            </a:r>
          </a:p>
        </p:txBody>
      </p:sp>
      <p:sp>
        <p:nvSpPr>
          <p:cNvPr id="3" name="TextBox 2"/>
          <p:cNvSpPr txBox="1"/>
          <p:nvPr/>
        </p:nvSpPr>
        <p:spPr>
          <a:xfrm>
            <a:off x="640080" y="475488"/>
            <a:ext cx="10911535" cy="566928"/>
          </a:xfrm>
          <a:prstGeom prst="rect">
            <a:avLst/>
          </a:prstGeom>
          <a:noFill/>
        </p:spPr>
        <p:txBody>
          <a:bodyPr wrap="square" lIns="0" rIns="0" tIns="0" bIns="0">
            <a:spAutoFit/>
          </a:bodyPr>
          <a:lstStyle/>
          <a:p>
            <a:pPr algn="l">
              <a:spcAft>
                <a:spcPts val="0"/>
              </a:spcAft>
            </a:pPr>
            <a:r>
              <a:rPr sz="3400" b="1" i="0">
                <a:solidFill>
                  <a:srgbClr val="065A82"/>
                </a:solidFill>
                <a:latin typeface="Cambria"/>
              </a:rPr>
              <a:t>Live today — except the last step</a:t>
            </a:r>
          </a:p>
        </p:txBody>
      </p:sp>
      <p:sp>
        <p:nvSpPr>
          <p:cNvPr id="4" name="TextBox 3"/>
          <p:cNvSpPr txBox="1"/>
          <p:nvPr/>
        </p:nvSpPr>
        <p:spPr>
          <a:xfrm>
            <a:off x="640080" y="1060704"/>
            <a:ext cx="10545775" cy="365760"/>
          </a:xfrm>
          <a:prstGeom prst="rect">
            <a:avLst/>
          </a:prstGeom>
          <a:noFill/>
        </p:spPr>
        <p:txBody>
          <a:bodyPr wrap="square" lIns="0" rIns="0" tIns="0" bIns="0">
            <a:spAutoFit/>
          </a:bodyPr>
          <a:lstStyle/>
          <a:p>
            <a:pPr algn="l">
              <a:spcAft>
                <a:spcPts val="0"/>
              </a:spcAft>
            </a:pPr>
            <a:r>
              <a:rPr sz="1500" b="0" i="0">
                <a:solidFill>
                  <a:srgbClr val="5C6B7A"/>
                </a:solidFill>
                <a:latin typeface="Calibri"/>
              </a:rPr>
              <a:t>Two of the three release jobs already run on every merge.</a:t>
            </a:r>
          </a:p>
        </p:txBody>
      </p:sp>
      <p:sp>
        <p:nvSpPr>
          <p:cNvPr id="5" name="Rounded Rectangle 4"/>
          <p:cNvSpPr/>
          <p:nvPr/>
        </p:nvSpPr>
        <p:spPr>
          <a:xfrm>
            <a:off x="640080" y="1783080"/>
            <a:ext cx="5029200" cy="914400"/>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6" name="Picture 5" descr="g_check.png"/>
          <p:cNvPicPr>
            <a:picLocks noChangeAspect="1"/>
          </p:cNvPicPr>
          <p:nvPr/>
        </p:nvPicPr>
        <p:blipFill>
          <a:blip r:embed="rId2"/>
          <a:stretch>
            <a:fillRect/>
          </a:stretch>
        </p:blipFill>
        <p:spPr>
          <a:xfrm>
            <a:off x="877824" y="2020824"/>
            <a:ext cx="438912" cy="438912"/>
          </a:xfrm>
          <a:prstGeom prst="rect">
            <a:avLst/>
          </a:prstGeom>
        </p:spPr>
      </p:pic>
      <p:sp>
        <p:nvSpPr>
          <p:cNvPr id="7" name="TextBox 6"/>
          <p:cNvSpPr txBox="1"/>
          <p:nvPr/>
        </p:nvSpPr>
        <p:spPr>
          <a:xfrm>
            <a:off x="1600200" y="2057400"/>
            <a:ext cx="3840480" cy="457200"/>
          </a:xfrm>
          <a:prstGeom prst="rect">
            <a:avLst/>
          </a:prstGeom>
          <a:noFill/>
        </p:spPr>
        <p:txBody>
          <a:bodyPr wrap="square" lIns="0" rIns="0" tIns="0" bIns="0">
            <a:spAutoFit/>
          </a:bodyPr>
          <a:lstStyle/>
          <a:p>
            <a:pPr algn="l">
              <a:lnSpc>
                <a:spcPct val="105000"/>
              </a:lnSpc>
              <a:spcAft>
                <a:spcPts val="0"/>
              </a:spcAft>
            </a:pPr>
            <a:r>
              <a:rPr sz="1550" b="1" i="0">
                <a:solidFill>
                  <a:srgbClr val="0B6B53"/>
                </a:solidFill>
                <a:latin typeface="Cambria"/>
              </a:rPr>
              <a:t>CI runs on every push</a:t>
            </a:r>
          </a:p>
        </p:txBody>
      </p:sp>
      <p:sp>
        <p:nvSpPr>
          <p:cNvPr id="8" name="Rounded Rectangle 7"/>
          <p:cNvSpPr/>
          <p:nvPr/>
        </p:nvSpPr>
        <p:spPr>
          <a:xfrm>
            <a:off x="640080" y="2798064"/>
            <a:ext cx="5029200" cy="914400"/>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9" name="Picture 8" descr="g_check.png"/>
          <p:cNvPicPr>
            <a:picLocks noChangeAspect="1"/>
          </p:cNvPicPr>
          <p:nvPr/>
        </p:nvPicPr>
        <p:blipFill>
          <a:blip r:embed="rId2"/>
          <a:stretch>
            <a:fillRect/>
          </a:stretch>
        </p:blipFill>
        <p:spPr>
          <a:xfrm>
            <a:off x="877824" y="3035808"/>
            <a:ext cx="438912" cy="438912"/>
          </a:xfrm>
          <a:prstGeom prst="rect">
            <a:avLst/>
          </a:prstGeom>
        </p:spPr>
      </p:pic>
      <p:sp>
        <p:nvSpPr>
          <p:cNvPr id="10" name="TextBox 9"/>
          <p:cNvSpPr txBox="1"/>
          <p:nvPr/>
        </p:nvSpPr>
        <p:spPr>
          <a:xfrm>
            <a:off x="1600200" y="3072384"/>
            <a:ext cx="3840480" cy="457200"/>
          </a:xfrm>
          <a:prstGeom prst="rect">
            <a:avLst/>
          </a:prstGeom>
          <a:noFill/>
        </p:spPr>
        <p:txBody>
          <a:bodyPr wrap="square" lIns="0" rIns="0" tIns="0" bIns="0">
            <a:spAutoFit/>
          </a:bodyPr>
          <a:lstStyle/>
          <a:p>
            <a:pPr algn="l">
              <a:lnSpc>
                <a:spcPct val="105000"/>
              </a:lnSpc>
              <a:spcAft>
                <a:spcPts val="0"/>
              </a:spcAft>
            </a:pPr>
            <a:r>
              <a:rPr sz="1550" b="1" i="0">
                <a:solidFill>
                  <a:srgbClr val="0B6B53"/>
                </a:solidFill>
                <a:latin typeface="Cambria"/>
              </a:rPr>
              <a:t>Tests run on a real database</a:t>
            </a:r>
          </a:p>
        </p:txBody>
      </p:sp>
      <p:sp>
        <p:nvSpPr>
          <p:cNvPr id="11" name="Rounded Rectangle 10"/>
          <p:cNvSpPr/>
          <p:nvPr/>
        </p:nvSpPr>
        <p:spPr>
          <a:xfrm>
            <a:off x="640080" y="3813048"/>
            <a:ext cx="5029200" cy="914400"/>
          </a:xfrm>
          <a:prstGeom prst="roundRect">
            <a:avLst>
              <a:gd name="adj" fmla="val 6000"/>
            </a:avLst>
          </a:prstGeom>
          <a:solidFill>
            <a:srgbClr val="E6F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2" name="Picture 11" descr="g_check.png"/>
          <p:cNvPicPr>
            <a:picLocks noChangeAspect="1"/>
          </p:cNvPicPr>
          <p:nvPr/>
        </p:nvPicPr>
        <p:blipFill>
          <a:blip r:embed="rId2"/>
          <a:stretch>
            <a:fillRect/>
          </a:stretch>
        </p:blipFill>
        <p:spPr>
          <a:xfrm>
            <a:off x="877824" y="4050791"/>
            <a:ext cx="438912" cy="438912"/>
          </a:xfrm>
          <a:prstGeom prst="rect">
            <a:avLst/>
          </a:prstGeom>
        </p:spPr>
      </p:pic>
      <p:sp>
        <p:nvSpPr>
          <p:cNvPr id="13" name="TextBox 12"/>
          <p:cNvSpPr txBox="1"/>
          <p:nvPr/>
        </p:nvSpPr>
        <p:spPr>
          <a:xfrm>
            <a:off x="1600200" y="4087368"/>
            <a:ext cx="3840480" cy="457200"/>
          </a:xfrm>
          <a:prstGeom prst="rect">
            <a:avLst/>
          </a:prstGeom>
          <a:noFill/>
        </p:spPr>
        <p:txBody>
          <a:bodyPr wrap="square" lIns="0" rIns="0" tIns="0" bIns="0">
            <a:spAutoFit/>
          </a:bodyPr>
          <a:lstStyle/>
          <a:p>
            <a:pPr algn="l">
              <a:lnSpc>
                <a:spcPct val="105000"/>
              </a:lnSpc>
              <a:spcAft>
                <a:spcPts val="0"/>
              </a:spcAft>
            </a:pPr>
            <a:r>
              <a:rPr sz="1550" b="1" i="0">
                <a:solidFill>
                  <a:srgbClr val="0B6B53"/>
                </a:solidFill>
                <a:latin typeface="Cambria"/>
              </a:rPr>
              <a:t>Images published on every merge</a:t>
            </a:r>
          </a:p>
        </p:txBody>
      </p:sp>
      <p:sp>
        <p:nvSpPr>
          <p:cNvPr id="14" name="Rounded Rectangle 13"/>
          <p:cNvSpPr/>
          <p:nvPr/>
        </p:nvSpPr>
        <p:spPr>
          <a:xfrm>
            <a:off x="640080" y="4828032"/>
            <a:ext cx="5029200" cy="914400"/>
          </a:xfrm>
          <a:prstGeom prst="roundRect">
            <a:avLst>
              <a:gd name="adj" fmla="val 6000"/>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ctr"/>
          </a:p>
        </p:txBody>
      </p:sp>
      <p:pic>
        <p:nvPicPr>
          <p:cNvPr id="15" name="Picture 14" descr="a_pause.png"/>
          <p:cNvPicPr>
            <a:picLocks noChangeAspect="1"/>
          </p:cNvPicPr>
          <p:nvPr/>
        </p:nvPicPr>
        <p:blipFill>
          <a:blip r:embed="rId3"/>
          <a:stretch>
            <a:fillRect/>
          </a:stretch>
        </p:blipFill>
        <p:spPr>
          <a:xfrm>
            <a:off x="877824" y="5065776"/>
            <a:ext cx="438912" cy="438912"/>
          </a:xfrm>
          <a:prstGeom prst="rect">
            <a:avLst/>
          </a:prstGeom>
        </p:spPr>
      </p:pic>
      <p:sp>
        <p:nvSpPr>
          <p:cNvPr id="16" name="TextBox 15"/>
          <p:cNvSpPr txBox="1"/>
          <p:nvPr/>
        </p:nvSpPr>
        <p:spPr>
          <a:xfrm>
            <a:off x="1600200" y="5102352"/>
            <a:ext cx="3840480" cy="457200"/>
          </a:xfrm>
          <a:prstGeom prst="rect">
            <a:avLst/>
          </a:prstGeom>
          <a:noFill/>
        </p:spPr>
        <p:txBody>
          <a:bodyPr wrap="square" lIns="0" rIns="0" tIns="0" bIns="0">
            <a:spAutoFit/>
          </a:bodyPr>
          <a:lstStyle/>
          <a:p>
            <a:pPr algn="l">
              <a:lnSpc>
                <a:spcPct val="105000"/>
              </a:lnSpc>
              <a:spcAft>
                <a:spcPts val="0"/>
              </a:spcAft>
            </a:pPr>
            <a:r>
              <a:rPr sz="1550" b="1" i="0">
                <a:solidFill>
                  <a:srgbClr val="9A630F"/>
                </a:solidFill>
                <a:latin typeface="Cambria"/>
              </a:rPr>
              <a:t>Deploy is waiting on a server</a:t>
            </a:r>
          </a:p>
        </p:txBody>
      </p:sp>
      <p:pic>
        <p:nvPicPr>
          <p:cNvPr id="17" name="Picture 16" descr="cd_status.png"/>
          <p:cNvPicPr>
            <a:picLocks noChangeAspect="1"/>
          </p:cNvPicPr>
          <p:nvPr/>
        </p:nvPicPr>
        <p:blipFill>
          <a:blip r:embed="rId4"/>
          <a:stretch>
            <a:fillRect/>
          </a:stretch>
        </p:blipFill>
        <p:spPr>
          <a:xfrm>
            <a:off x="5897880" y="1874519"/>
            <a:ext cx="5029200" cy="2078736"/>
          </a:xfrm>
          <a:prstGeom prst="rect">
            <a:avLst/>
          </a:prstGeom>
        </p:spPr>
      </p:pic>
      <p:sp>
        <p:nvSpPr>
          <p:cNvPr id="18" name="TextBox 17"/>
          <p:cNvSpPr txBox="1"/>
          <p:nvPr/>
        </p:nvSpPr>
        <p:spPr>
          <a:xfrm>
            <a:off x="6021324" y="3971543"/>
            <a:ext cx="1463040" cy="274320"/>
          </a:xfrm>
          <a:prstGeom prst="rect">
            <a:avLst/>
          </a:prstGeom>
          <a:noFill/>
        </p:spPr>
        <p:txBody>
          <a:bodyPr wrap="square" lIns="0" rIns="0" tIns="0" bIns="0">
            <a:spAutoFit/>
          </a:bodyPr>
          <a:lstStyle/>
          <a:p>
            <a:pPr algn="ctr">
              <a:spcAft>
                <a:spcPts val="0"/>
              </a:spcAft>
            </a:pPr>
            <a:r>
              <a:rPr sz="1300" b="1" i="0">
                <a:solidFill>
                  <a:srgbClr val="5C6B7A"/>
                </a:solidFill>
                <a:latin typeface="Calibri"/>
              </a:rPr>
              <a:t>Gate</a:t>
            </a:r>
          </a:p>
        </p:txBody>
      </p:sp>
      <p:sp>
        <p:nvSpPr>
          <p:cNvPr id="19" name="TextBox 18"/>
          <p:cNvSpPr txBox="1"/>
          <p:nvPr/>
        </p:nvSpPr>
        <p:spPr>
          <a:xfrm>
            <a:off x="7680959" y="3971543"/>
            <a:ext cx="1463040" cy="274320"/>
          </a:xfrm>
          <a:prstGeom prst="rect">
            <a:avLst/>
          </a:prstGeom>
          <a:noFill/>
        </p:spPr>
        <p:txBody>
          <a:bodyPr wrap="square" lIns="0" rIns="0" tIns="0" bIns="0">
            <a:spAutoFit/>
          </a:bodyPr>
          <a:lstStyle/>
          <a:p>
            <a:pPr algn="ctr">
              <a:spcAft>
                <a:spcPts val="0"/>
              </a:spcAft>
            </a:pPr>
            <a:r>
              <a:rPr sz="1300" b="1" i="0">
                <a:solidFill>
                  <a:srgbClr val="5C6B7A"/>
                </a:solidFill>
                <a:latin typeface="Calibri"/>
              </a:rPr>
              <a:t>Publish</a:t>
            </a:r>
          </a:p>
        </p:txBody>
      </p:sp>
      <p:sp>
        <p:nvSpPr>
          <p:cNvPr id="20" name="TextBox 19"/>
          <p:cNvSpPr txBox="1"/>
          <p:nvPr/>
        </p:nvSpPr>
        <p:spPr>
          <a:xfrm>
            <a:off x="9340596" y="3971543"/>
            <a:ext cx="1463040" cy="274320"/>
          </a:xfrm>
          <a:prstGeom prst="rect">
            <a:avLst/>
          </a:prstGeom>
          <a:noFill/>
        </p:spPr>
        <p:txBody>
          <a:bodyPr wrap="square" lIns="0" rIns="0" tIns="0" bIns="0">
            <a:spAutoFit/>
          </a:bodyPr>
          <a:lstStyle/>
          <a:p>
            <a:pPr algn="ctr">
              <a:spcAft>
                <a:spcPts val="0"/>
              </a:spcAft>
            </a:pPr>
            <a:r>
              <a:rPr sz="1300" b="1" i="0">
                <a:solidFill>
                  <a:srgbClr val="5C6B7A"/>
                </a:solidFill>
                <a:latin typeface="Calibri"/>
              </a:rPr>
              <a:t>Deploy</a:t>
            </a:r>
          </a:p>
        </p:txBody>
      </p:sp>
      <p:sp>
        <p:nvSpPr>
          <p:cNvPr id="21" name="Rounded Rectangle 20"/>
          <p:cNvSpPr/>
          <p:nvPr/>
        </p:nvSpPr>
        <p:spPr>
          <a:xfrm>
            <a:off x="5897880" y="4434840"/>
            <a:ext cx="5029200" cy="1399032"/>
          </a:xfrm>
          <a:prstGeom prst="roundRect">
            <a:avLst>
              <a:gd name="adj" fmla="val 6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600"/>
              </a:spcAft>
            </a:pPr>
            <a:r>
              <a:rPr sz="1350" b="1" i="0">
                <a:solidFill>
                  <a:srgbClr val="02C39A"/>
                </a:solidFill>
                <a:latin typeface="Cambria"/>
              </a:rPr>
              <a:t>In one sentence</a:t>
            </a:r>
          </a:p>
          <a:p>
            <a:pPr algn="l">
              <a:lnSpc>
                <a:spcPct val="118000"/>
              </a:lnSpc>
              <a:spcAft>
                <a:spcPts val="0"/>
              </a:spcAft>
            </a:pPr>
            <a:r>
              <a:rPr sz="1400" b="0" i="0">
                <a:solidFill>
                  <a:srgbClr val="FFFFFF"/>
                </a:solidFill>
                <a:latin typeface="Calibri"/>
              </a:rPr>
              <a:t>“CI and continuous delivery are running. Deployment is switched off behind an approval gate until we have a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