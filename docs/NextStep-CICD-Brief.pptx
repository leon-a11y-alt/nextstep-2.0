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One-liner opener: my contribution this phase was the CI/CD pipeline. Before this, checking that the app still worked was manual and depended on whose laptop ran it, and the API tests were being skipped because they need a seeded database. Now GitHub Actions does it on every commit. Two pipelines, seven jobs.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top row left to right, then the bottom row. The point to land: CI answers 'is this correct', CD answers 'how does it reach users' — and CD's first job re-runs all of CI, so nothing untested can ever be published. If asked what was hardest: the tests import the real controllers, which query Postgres, so CI starts a disposable postgres:16 container, waits for it to be ready, runs db:init to create the schema and seed data, then the tests. That needed one code change — SSL was hard-coded on for Supabase, so I made it a DATABASE_SSL toggle: on for Supabase, off for the CI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upfront about the gap — it earns more credit than overclaiming. The deploy mechanism is written and reviewable; what it is waiting for is a server, not more code. Same with lint: leaving it out was a decision, not an oversight. End on the one-sentence version, which is also the answer to 'so do you have CI/CD or not?'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914400"/>
            <a:ext cx="566928" cy="566928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21295C"/>
                </a:solidFill>
                <a:latin typeface="Calibri"/>
              </a:rP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9784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2C39A"/>
                </a:solidFill>
                <a:latin typeface="Calibri"/>
              </a:rPr>
              <a:t>C270 DEVOPS ESSENTIALS  ·  MY CONTRIBUTION THIS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I automated NextStep's build,</a:t>
            </a:r>
          </a:p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9FD9E8"/>
                </a:solidFill>
                <a:latin typeface="Cambria"/>
              </a:rPr>
              <a:t>test and release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03320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C5D5E0"/>
                </a:solidFill>
                <a:latin typeface="Calibri"/>
              </a:rPr>
              <a:t>Two GitHub Actions pipelines now run on their own: one verifies every commit, the other packages and releases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709160"/>
            <a:ext cx="2551176" cy="1051560"/>
          </a:xfrm>
          <a:prstGeom prst="roundRect">
            <a:avLst>
              <a:gd name="adj" fmla="val 6000"/>
            </a:avLst>
          </a:prstGeom>
          <a:solidFill>
            <a:srgbClr val="2E3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02C39A"/>
                </a:solidFill>
                <a:latin typeface="Cambria"/>
              </a:rPr>
              <a:t>2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C5D5E0"/>
                </a:solidFill>
                <a:latin typeface="Calibri"/>
              </a:rPr>
              <a:t>pipelines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39" y="4709160"/>
            <a:ext cx="2551176" cy="1051560"/>
          </a:xfrm>
          <a:prstGeom prst="roundRect">
            <a:avLst>
              <a:gd name="adj" fmla="val 6000"/>
            </a:avLst>
          </a:prstGeom>
          <a:solidFill>
            <a:srgbClr val="2E3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02C39A"/>
                </a:solidFill>
                <a:latin typeface="Cambria"/>
              </a:rPr>
              <a:t>7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C5D5E0"/>
                </a:solidFill>
                <a:latin typeface="Calibri"/>
              </a:rPr>
              <a:t>automated jobs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4709160"/>
            <a:ext cx="2551176" cy="1051560"/>
          </a:xfrm>
          <a:prstGeom prst="roundRect">
            <a:avLst>
              <a:gd name="adj" fmla="val 6000"/>
            </a:avLst>
          </a:prstGeom>
          <a:solidFill>
            <a:srgbClr val="2E3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02C39A"/>
                </a:solidFill>
                <a:latin typeface="Cambria"/>
              </a:rPr>
              <a:t>17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C5D5E0"/>
                </a:solidFill>
                <a:latin typeface="Calibri"/>
              </a:rPr>
              <a:t>tests per run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709160"/>
            <a:ext cx="2551176" cy="1051560"/>
          </a:xfrm>
          <a:prstGeom prst="roundRect">
            <a:avLst>
              <a:gd name="adj" fmla="val 6000"/>
            </a:avLst>
          </a:prstGeom>
          <a:solidFill>
            <a:srgbClr val="2E3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02C39A"/>
                </a:solidFill>
                <a:latin typeface="Cambria"/>
              </a:rPr>
              <a:t>2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C5D5E0"/>
                </a:solidFill>
                <a:latin typeface="Calibri"/>
              </a:rPr>
              <a:t>Docker images published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2C39A"/>
                </a:solidFill>
                <a:latin typeface="Calibri"/>
              </a:rPr>
              <a:t>GitHub Actions   ·   GitHub Container Registry   ·   Docker   ·   PostgreSQL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60">
                <a:solidFill>
                  <a:srgbClr val="1C7293"/>
                </a:solidFill>
                <a:latin typeface="Calibri"/>
              </a:rPr>
              <a:t>WHAT THE PIPELINE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65A82"/>
                </a:solidFill>
                <a:latin typeface="Cambria"/>
              </a:rPr>
              <a:t>Every commit is tested; every merge is packaged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C6B7A"/>
                </a:solidFill>
                <a:latin typeface="Calibri"/>
              </a:rPr>
              <a:t>Nothing reaches main untested, and nothing is published unless the tests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65A82"/>
                </a:solidFill>
                <a:latin typeface="Cambria"/>
              </a:rPr>
              <a:t>CI  —  on every push and pull request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478024" cy="1371600"/>
          </a:xfrm>
          <a:prstGeom prst="roundRect">
            <a:avLst>
              <a:gd name="adj" fmla="val 6000"/>
            </a:avLst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065A82"/>
                </a:solidFill>
                <a:latin typeface="Cambria"/>
              </a:rPr>
              <a:t>Quality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233"/>
                </a:solidFill>
                <a:latin typeface="Calibri"/>
              </a:rPr>
              <a:t>No committed .env or node_modules</a:t>
            </a:r>
          </a:p>
        </p:txBody>
      </p:sp>
      <p:sp>
        <p:nvSpPr>
          <p:cNvPr id="7" name="Oval 6"/>
          <p:cNvSpPr/>
          <p:nvPr/>
        </p:nvSpPr>
        <p:spPr>
          <a:xfrm>
            <a:off x="2615184" y="1883664"/>
            <a:ext cx="420624" cy="42062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54680" y="2660904"/>
            <a:ext cx="292608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47287" y="2103120"/>
            <a:ext cx="2478024" cy="1371600"/>
          </a:xfrm>
          <a:prstGeom prst="roundRect">
            <a:avLst>
              <a:gd name="adj" fmla="val 6000"/>
            </a:avLst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065A82"/>
                </a:solidFill>
                <a:latin typeface="Cambria"/>
              </a:rPr>
              <a:t>Backend tests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233"/>
                </a:solidFill>
                <a:latin typeface="Calibri"/>
              </a:rPr>
              <a:t>Real PostgreSQL container, 17 tests, health check</a:t>
            </a:r>
          </a:p>
        </p:txBody>
      </p:sp>
      <p:sp>
        <p:nvSpPr>
          <p:cNvPr id="10" name="Oval 9"/>
          <p:cNvSpPr/>
          <p:nvPr/>
        </p:nvSpPr>
        <p:spPr>
          <a:xfrm>
            <a:off x="5422392" y="1883664"/>
            <a:ext cx="420624" cy="42062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1888" y="2660904"/>
            <a:ext cx="292608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54496" y="2103120"/>
            <a:ext cx="2478024" cy="1371600"/>
          </a:xfrm>
          <a:prstGeom prst="roundRect">
            <a:avLst>
              <a:gd name="adj" fmla="val 6000"/>
            </a:avLst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065A82"/>
                </a:solidFill>
                <a:latin typeface="Cambria"/>
              </a:rPr>
              <a:t>Frontend build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233"/>
                </a:solidFill>
                <a:latin typeface="Calibri"/>
              </a:rPr>
              <a:t>Production next build must compile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0" y="1883664"/>
            <a:ext cx="420624" cy="42062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69096" y="2660904"/>
            <a:ext cx="292608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61704" y="2103120"/>
            <a:ext cx="2478024" cy="1371600"/>
          </a:xfrm>
          <a:prstGeom prst="roundRect">
            <a:avLst>
              <a:gd name="adj" fmla="val 6000"/>
            </a:avLst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065A82"/>
                </a:solidFill>
                <a:latin typeface="Cambria"/>
              </a:rPr>
              <a:t>Docker build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233"/>
                </a:solidFill>
                <a:latin typeface="Calibri"/>
              </a:rPr>
              <a:t>Both images must build</a:t>
            </a:r>
          </a:p>
        </p:txBody>
      </p:sp>
      <p:sp>
        <p:nvSpPr>
          <p:cNvPr id="16" name="Oval 15"/>
          <p:cNvSpPr/>
          <p:nvPr/>
        </p:nvSpPr>
        <p:spPr>
          <a:xfrm>
            <a:off x="11036808" y="1883664"/>
            <a:ext cx="420624" cy="42062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844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1">
                <a:solidFill>
                  <a:srgbClr val="5C6B7A"/>
                </a:solidFill>
                <a:latin typeface="Calibri"/>
              </a:rPr>
              <a:t>Stages 2 and 3 run in parallel; stage 4 waits for both. A bad commit turns the pull request red before it can be merged.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65A82"/>
                </a:solidFill>
                <a:latin typeface="Cambria"/>
              </a:rPr>
              <a:t>CD  —  when a pull request is merged into main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526280"/>
            <a:ext cx="3364992" cy="137160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Cambria"/>
              </a:rPr>
              <a:t>CI gate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C5D5E0"/>
                </a:solidFill>
                <a:latin typeface="Calibri"/>
              </a:rPr>
              <a:t>Re-runs the whole CI pipeline first</a:t>
            </a:r>
          </a:p>
        </p:txBody>
      </p:sp>
      <p:sp>
        <p:nvSpPr>
          <p:cNvPr id="20" name="Oval 19"/>
          <p:cNvSpPr/>
          <p:nvPr/>
        </p:nvSpPr>
        <p:spPr>
          <a:xfrm>
            <a:off x="3502152" y="4306824"/>
            <a:ext cx="420624" cy="420624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1295C"/>
                </a:solidFill>
                <a:latin typeface="Calibri"/>
              </a:rPr>
              <a:t>1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059935" y="5084064"/>
            <a:ext cx="292608" cy="256032"/>
          </a:xfrm>
          <a:prstGeom prst="rightArrow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07408" y="4526280"/>
            <a:ext cx="3364992" cy="137160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Cambria"/>
              </a:rPr>
              <a:t>Publish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C5D5E0"/>
                </a:solidFill>
                <a:latin typeface="Calibri"/>
              </a:rPr>
              <a:t>Both images pushed to GHCR, tagged with the commit SHA</a:t>
            </a:r>
          </a:p>
        </p:txBody>
      </p:sp>
      <p:sp>
        <p:nvSpPr>
          <p:cNvPr id="23" name="Oval 22"/>
          <p:cNvSpPr/>
          <p:nvPr/>
        </p:nvSpPr>
        <p:spPr>
          <a:xfrm>
            <a:off x="7269480" y="4306824"/>
            <a:ext cx="420624" cy="420624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1295C"/>
                </a:solidFill>
                <a:latin typeface="Calibri"/>
              </a:rPr>
              <a:t>2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827264" y="5084064"/>
            <a:ext cx="292608" cy="256032"/>
          </a:xfrm>
          <a:prstGeom prst="rightArrow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74736" y="4526280"/>
            <a:ext cx="3364992" cy="137160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Cambria"/>
              </a:rPr>
              <a:t>Deploy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C5D5E0"/>
                </a:solidFill>
                <a:latin typeface="Calibri"/>
              </a:rPr>
              <a:t>Behind an approval gate, then verifies /api/health</a:t>
            </a:r>
          </a:p>
        </p:txBody>
      </p:sp>
      <p:sp>
        <p:nvSpPr>
          <p:cNvPr id="26" name="Oval 25"/>
          <p:cNvSpPr/>
          <p:nvPr/>
        </p:nvSpPr>
        <p:spPr>
          <a:xfrm>
            <a:off x="11036808" y="4306824"/>
            <a:ext cx="420624" cy="420624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1295C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00760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1">
                <a:solidFill>
                  <a:srgbClr val="5C6B7A"/>
                </a:solidFill>
                <a:latin typeface="Calibri"/>
              </a:rPr>
              <a:t>Tagging each image with its commit SHA is what makes a rollback one command instead of guesswork.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60">
                <a:solidFill>
                  <a:srgbClr val="1C7293"/>
                </a:solidFill>
                <a:latin typeface="Calibri"/>
              </a:rPr>
              <a:t>CURRENT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65A82"/>
                </a:solidFill>
                <a:latin typeface="Cambria"/>
              </a:rPr>
              <a:t>Running now — and honest about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C6B7A"/>
                </a:solidFill>
                <a:latin typeface="Calibri"/>
              </a:rPr>
              <a:t>Two of the three release jobs already run for real on every merge to main.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03520" cy="3246120"/>
          </a:xfrm>
          <a:prstGeom prst="roundRect">
            <a:avLst>
              <a:gd name="adj" fmla="val 6000"/>
            </a:avLst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900"/>
              </a:spcAft>
            </a:pPr>
            <a:r>
              <a:rPr sz="1700" b="1" i="0">
                <a:solidFill>
                  <a:srgbClr val="0B6B53"/>
                </a:solidFill>
                <a:latin typeface="Cambria"/>
              </a:rPr>
              <a:t>Working today</a:t>
            </a:r>
          </a:p>
          <a:p>
            <a:pPr algn="l" marL="200025" indent="-200025">
              <a:lnSpc>
                <a:spcPct val="110000"/>
              </a:lnSpc>
              <a:spcAft>
                <a:spcPts val="600"/>
              </a:spcAft>
              <a:buChar char="•"/>
            </a:pPr>
            <a:r>
              <a:rPr sz="1250" b="0" i="0">
                <a:solidFill>
                  <a:srgbClr val="1B2233"/>
                </a:solidFill>
                <a:latin typeface="Calibri"/>
              </a:rPr>
              <a:t>CI runs automatically on every push and pull request</a:t>
            </a:r>
          </a:p>
          <a:p>
            <a:pPr algn="l" marL="200025" indent="-200025">
              <a:lnSpc>
                <a:spcPct val="110000"/>
              </a:lnSpc>
              <a:spcAft>
                <a:spcPts val="600"/>
              </a:spcAft>
              <a:buChar char="•"/>
            </a:pPr>
            <a:r>
              <a:rPr sz="1250" b="0" i="0">
                <a:solidFill>
                  <a:srgbClr val="1B2233"/>
                </a:solidFill>
                <a:latin typeface="Calibri"/>
              </a:rPr>
              <a:t>A throwaway PostgreSQL is created and seeded per run, so the API tests finally run instead of being skipped</a:t>
            </a:r>
          </a:p>
          <a:p>
            <a:pPr algn="l" marL="200025" indent="-200025">
              <a:lnSpc>
                <a:spcPct val="110000"/>
              </a:lnSpc>
              <a:spcAft>
                <a:spcPts val="600"/>
              </a:spcAft>
              <a:buChar char="•"/>
            </a:pPr>
            <a:r>
              <a:rPr sz="1250" b="0" i="0">
                <a:solidFill>
                  <a:srgbClr val="1B2233"/>
                </a:solidFill>
                <a:latin typeface="Calibri"/>
              </a:rPr>
              <a:t>A smoke test proves the API actually boots, not just that tests pass</a:t>
            </a:r>
          </a:p>
          <a:p>
            <a:pPr algn="l" marL="200025" indent="-200025">
              <a:lnSpc>
                <a:spcPct val="110000"/>
              </a:lnSpc>
              <a:spcAft>
                <a:spcPts val="600"/>
              </a:spcAft>
              <a:buChar char="•"/>
            </a:pPr>
            <a:r>
              <a:rPr sz="1250" b="0" i="0">
                <a:solidFill>
                  <a:srgbClr val="1B2233"/>
                </a:solidFill>
                <a:latin typeface="Calibri"/>
              </a:rPr>
              <a:t>Both Docker images build on every run</a:t>
            </a:r>
          </a:p>
          <a:p>
            <a:pPr algn="l" marL="200025" indent="-200025">
              <a:lnSpc>
                <a:spcPct val="110000"/>
              </a:lnSpc>
              <a:spcAft>
                <a:spcPts val="600"/>
              </a:spcAft>
              <a:buChar char="•"/>
            </a:pPr>
            <a:r>
              <a:rPr sz="1250" b="0" i="0">
                <a:solidFill>
                  <a:srgbClr val="1B2233"/>
                </a:solidFill>
                <a:latin typeface="Calibri"/>
              </a:rPr>
              <a:t>Merging to main publishes both images to GHCR, tagged with the commit SHA</a:t>
            </a:r>
          </a:p>
          <a:p>
            <a:pPr algn="l" marL="200025" indent="-200025">
              <a:lnSpc>
                <a:spcPct val="110000"/>
              </a:lnSpc>
              <a:spcAft>
                <a:spcPts val="600"/>
              </a:spcAft>
              <a:buChar char="•"/>
            </a:pPr>
            <a:r>
              <a:rPr sz="1250" b="0" i="0">
                <a:solidFill>
                  <a:srgbClr val="1B2233"/>
                </a:solidFill>
                <a:latin typeface="Calibri"/>
              </a:rPr>
              <a:t>Dependabot opens dependency PRs that CI tests automatically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737360"/>
            <a:ext cx="5303520" cy="324612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900"/>
              </a:spcAft>
            </a:pPr>
            <a:r>
              <a:rPr sz="1700" b="1" i="0">
                <a:solidFill>
                  <a:srgbClr val="9A630F"/>
                </a:solidFill>
                <a:latin typeface="Cambria"/>
              </a:rPr>
              <a:t>Not live yet — and why</a:t>
            </a:r>
          </a:p>
          <a:p>
            <a:pPr algn="l" marL="200025" indent="-200025">
              <a:lnSpc>
                <a:spcPct val="110000"/>
              </a:lnSpc>
              <a:spcAft>
                <a:spcPts val="600"/>
              </a:spcAft>
              <a:buChar char="•"/>
            </a:pPr>
            <a:r>
              <a:rPr sz="1250" b="0" i="0">
                <a:solidFill>
                  <a:srgbClr val="1B2233"/>
                </a:solidFill>
                <a:latin typeface="Calibri"/>
              </a:rPr>
              <a:t>No hosting server is provisioned, so the deploy job has no target</a:t>
            </a:r>
          </a:p>
          <a:p>
            <a:pPr algn="l" marL="200025" indent="-200025">
              <a:lnSpc>
                <a:spcPct val="110000"/>
              </a:lnSpc>
              <a:spcAft>
                <a:spcPts val="600"/>
              </a:spcAft>
              <a:buChar char="•"/>
            </a:pPr>
            <a:r>
              <a:rPr sz="1250" b="0" i="0">
                <a:solidFill>
                  <a:srgbClr val="1B2233"/>
                </a:solidFill>
                <a:latin typeface="Calibri"/>
              </a:rPr>
              <a:t>It detects the missing secret and skips with an explanation rather than failing the pipeline</a:t>
            </a:r>
          </a:p>
          <a:p>
            <a:pPr algn="l" marL="200025" indent="-200025">
              <a:lnSpc>
                <a:spcPct val="110000"/>
              </a:lnSpc>
              <a:spcAft>
                <a:spcPts val="600"/>
              </a:spcAft>
              <a:buChar char="•"/>
            </a:pPr>
            <a:r>
              <a:rPr sz="1250" b="0" i="0">
                <a:solidFill>
                  <a:srgbClr val="1B2233"/>
                </a:solidFill>
                <a:latin typeface="Calibri"/>
              </a:rPr>
              <a:t>Adding four secrets activates deployment with no workflow edit</a:t>
            </a:r>
          </a:p>
          <a:p>
            <a:pPr algn="l" marL="200025" indent="-200025">
              <a:lnSpc>
                <a:spcPct val="110000"/>
              </a:lnSpc>
              <a:spcAft>
                <a:spcPts val="600"/>
              </a:spcAft>
              <a:buChar char="•"/>
            </a:pPr>
            <a:r>
              <a:rPr sz="1250" b="0" i="0">
                <a:solidFill>
                  <a:srgbClr val="1B2233"/>
                </a:solidFill>
                <a:latin typeface="Calibri"/>
              </a:rPr>
              <a:t>No lint stage: the frontend has no ESLint config, and a stage that passes vacuously is worse than none</a:t>
            </a:r>
          </a:p>
          <a:p>
            <a:pPr algn="l" marL="200025" indent="-200025">
              <a:lnSpc>
                <a:spcPct val="110000"/>
              </a:lnSpc>
              <a:spcAft>
                <a:spcPts val="600"/>
              </a:spcAft>
              <a:buChar char="•"/>
            </a:pPr>
            <a:r>
              <a:rPr sz="1250" b="0" i="0">
                <a:solidFill>
                  <a:srgbClr val="1B2233"/>
                </a:solidFill>
                <a:latin typeface="Calibri"/>
              </a:rPr>
              <a:t>Frontend component tests are the next thing I would add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120640"/>
            <a:ext cx="10911535" cy="105156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02C39A"/>
                </a:solidFill>
                <a:latin typeface="Cambria"/>
              </a:rPr>
              <a:t>In one sentence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“Continuous integration and continuous delivery are running. Continuous deployment is deliberately switched off behind an approval gate until we have a server and frontend tests.”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82512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C6B7A"/>
                </a:solidFill>
                <a:latin typeface="Calibri"/>
              </a:rPr>
              <a:t>Full write-up: docs/CICD.md   ·   Pipelines: .github/workflows/ci.yml and cd.yml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